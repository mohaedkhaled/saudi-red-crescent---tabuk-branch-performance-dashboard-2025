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147476159" r:id="rId2"/>
    <p:sldId id="2147476160" r:id="rId3"/>
    <p:sldId id="2147476161" r:id="rId4"/>
    <p:sldId id="2147476272" r:id="rId5"/>
    <p:sldId id="2147476283" r:id="rId6"/>
    <p:sldId id="2147476164" r:id="rId7"/>
    <p:sldId id="2147476166" r:id="rId8"/>
    <p:sldId id="2147476280" r:id="rId9"/>
    <p:sldId id="2147476284" r:id="rId10"/>
    <p:sldId id="2147476170" r:id="rId11"/>
    <p:sldId id="2147476172" r:id="rId12"/>
    <p:sldId id="2147476285" r:id="rId13"/>
    <p:sldId id="2147476286" r:id="rId14"/>
    <p:sldId id="2147476287" r:id="rId15"/>
    <p:sldId id="2147476184" r:id="rId16"/>
    <p:sldId id="2147476186" r:id="rId17"/>
    <p:sldId id="2147476288" r:id="rId18"/>
    <p:sldId id="2147476289" r:id="rId19"/>
    <p:sldId id="2147476299" r:id="rId20"/>
    <p:sldId id="2147476298" r:id="rId21"/>
    <p:sldId id="2147476242" r:id="rId22"/>
    <p:sldId id="2147476293" r:id="rId23"/>
    <p:sldId id="2147476294" r:id="rId24"/>
    <p:sldId id="2147476295" r:id="rId25"/>
    <p:sldId id="2147476296" r:id="rId26"/>
    <p:sldId id="214747629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2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4D935-C8E6-4583-8BE4-FB4F789EDA9B}" v="1" dt="2025-08-26T12:46:00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62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hman Samhan" userId="a27fdef2-9152-4a86-a46d-941a09402d9a" providerId="ADAL" clId="{88E4D935-C8E6-4583-8BE4-FB4F789EDA9B}"/>
    <pc:docChg chg="undo custSel modSld">
      <pc:chgData name="Abdulrahman Samhan" userId="a27fdef2-9152-4a86-a46d-941a09402d9a" providerId="ADAL" clId="{88E4D935-C8E6-4583-8BE4-FB4F789EDA9B}" dt="2025-08-26T12:47:14.670" v="10" actId="1076"/>
      <pc:docMkLst>
        <pc:docMk/>
      </pc:docMkLst>
      <pc:sldChg chg="addSp delSp modSp mod">
        <pc:chgData name="Abdulrahman Samhan" userId="a27fdef2-9152-4a86-a46d-941a09402d9a" providerId="ADAL" clId="{88E4D935-C8E6-4583-8BE4-FB4F789EDA9B}" dt="2025-08-26T12:47:14.670" v="10" actId="1076"/>
        <pc:sldMkLst>
          <pc:docMk/>
          <pc:sldMk cId="1417379557" sldId="2147476159"/>
        </pc:sldMkLst>
        <pc:picChg chg="add del mod">
          <ac:chgData name="Abdulrahman Samhan" userId="a27fdef2-9152-4a86-a46d-941a09402d9a" providerId="ADAL" clId="{88E4D935-C8E6-4583-8BE4-FB4F789EDA9B}" dt="2025-08-26T12:47:14.670" v="10" actId="1076"/>
          <ac:picMkLst>
            <pc:docMk/>
            <pc:sldMk cId="1417379557" sldId="2147476159"/>
            <ac:picMk id="2" creationId="{B6674CE4-446C-6310-D2F6-DF0932A90B87}"/>
          </ac:picMkLst>
        </pc:picChg>
        <pc:picChg chg="del">
          <ac:chgData name="Abdulrahman Samhan" userId="a27fdef2-9152-4a86-a46d-941a09402d9a" providerId="ADAL" clId="{88E4D935-C8E6-4583-8BE4-FB4F789EDA9B}" dt="2025-08-26T12:45:58.153" v="3" actId="21"/>
          <ac:picMkLst>
            <pc:docMk/>
            <pc:sldMk cId="1417379557" sldId="2147476159"/>
            <ac:picMk id="3" creationId="{B6674CE4-446C-6310-D2F6-DF0932A90B87}"/>
          </ac:picMkLst>
        </pc:picChg>
      </pc:sldChg>
      <pc:sldChg chg="modSp mod">
        <pc:chgData name="Abdulrahman Samhan" userId="a27fdef2-9152-4a86-a46d-941a09402d9a" providerId="ADAL" clId="{88E4D935-C8E6-4583-8BE4-FB4F789EDA9B}" dt="2025-08-25T11:38:10.808" v="2" actId="14734"/>
        <pc:sldMkLst>
          <pc:docMk/>
          <pc:sldMk cId="3942594901" sldId="2147476172"/>
        </pc:sldMkLst>
        <pc:graphicFrameChg chg="modGraphic">
          <ac:chgData name="Abdulrahman Samhan" userId="a27fdef2-9152-4a86-a46d-941a09402d9a" providerId="ADAL" clId="{88E4D935-C8E6-4583-8BE4-FB4F789EDA9B}" dt="2025-08-25T11:38:10.808" v="2" actId="14734"/>
          <ac:graphicFrameMkLst>
            <pc:docMk/>
            <pc:sldMk cId="3942594901" sldId="2147476172"/>
            <ac:graphicFrameMk id="3" creationId="{B1C6B600-8BB5-5659-7402-455B1A619E43}"/>
          </ac:graphicFrameMkLst>
        </pc:graphicFrameChg>
      </pc:sldChg>
      <pc:sldChg chg="modSp mod">
        <pc:chgData name="Abdulrahman Samhan" userId="a27fdef2-9152-4a86-a46d-941a09402d9a" providerId="ADAL" clId="{88E4D935-C8E6-4583-8BE4-FB4F789EDA9B}" dt="2025-08-25T10:27:53.522" v="0" actId="14734"/>
        <pc:sldMkLst>
          <pc:docMk/>
          <pc:sldMk cId="1445058884" sldId="2147476288"/>
        </pc:sldMkLst>
        <pc:graphicFrameChg chg="modGraphic">
          <ac:chgData name="Abdulrahman Samhan" userId="a27fdef2-9152-4a86-a46d-941a09402d9a" providerId="ADAL" clId="{88E4D935-C8E6-4583-8BE4-FB4F789EDA9B}" dt="2025-08-25T10:27:53.522" v="0" actId="14734"/>
          <ac:graphicFrameMkLst>
            <pc:docMk/>
            <pc:sldMk cId="1445058884" sldId="2147476288"/>
            <ac:graphicFrameMk id="8" creationId="{ABE8B122-4233-4C3C-A395-6B6FF998315A}"/>
          </ac:graphicFrameMkLst>
        </pc:graphicFrameChg>
      </pc:sldChg>
      <pc:sldChg chg="modSp mod">
        <pc:chgData name="Abdulrahman Samhan" userId="a27fdef2-9152-4a86-a46d-941a09402d9a" providerId="ADAL" clId="{88E4D935-C8E6-4583-8BE4-FB4F789EDA9B}" dt="2025-08-25T10:41:35.793" v="1" actId="14734"/>
        <pc:sldMkLst>
          <pc:docMk/>
          <pc:sldMk cId="2743465965" sldId="2147476289"/>
        </pc:sldMkLst>
        <pc:graphicFrameChg chg="modGraphic">
          <ac:chgData name="Abdulrahman Samhan" userId="a27fdef2-9152-4a86-a46d-941a09402d9a" providerId="ADAL" clId="{88E4D935-C8E6-4583-8BE4-FB4F789EDA9B}" dt="2025-08-25T10:41:35.793" v="1" actId="14734"/>
          <ac:graphicFrameMkLst>
            <pc:docMk/>
            <pc:sldMk cId="2743465965" sldId="2147476289"/>
            <ac:graphicFrameMk id="43" creationId="{ABD3F546-A98D-47F5-A185-08C33F9FDD2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05AAD-52DC-4048-87EC-A95337499CA1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A25FE-A6F6-452A-89B8-CE21DBBAC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9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83F89-76C7-F94B-9138-F28B165DE561}" type="slidenum">
              <a:rPr lang="ar-SA" smtClean="0"/>
              <a:t>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98078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83F89-76C7-F94B-9138-F28B165DE561}" type="slidenum">
              <a:rPr lang="ar-SA" smtClean="0"/>
              <a:t>19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5095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7DB3-94C9-412A-BDF3-53EDC6252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C7DB0-81B9-4BD0-B404-E65393086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6231-2D5F-4983-9C7B-D509BF57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FC76-EDF0-440F-B6F4-8283AA3D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8EAF-6D81-4AA3-A650-6AF83CE7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72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BBA5-27B1-44FD-9D07-FD84DCA9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9AB6-8614-4BFE-950C-21FCF11ED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265B9-4B79-4ABF-A7C3-41412C92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F127-66D3-4754-8D7F-D8BAE35F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E3C4-C83E-467A-8EC5-73BD66F2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7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2216-82FF-40AA-BC6A-CEB8F070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282B3-F209-4850-AF09-D3A39F7C5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3DB03-68A2-4754-878C-98A1A976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C7821-080E-4637-B752-4147ABD6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E1F11-1236-416E-A66A-3A44FADD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6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63FC-FE3B-492E-B445-AFAED93C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FCAD-28D3-4162-AA45-A98F241B4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6C43E-BE11-4B74-912B-6BDED87EF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BA081-2D44-4D0D-9281-1BDA9A8BA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BC517-048B-43D6-9EAF-14835F06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5D07A-2FE1-4279-A799-25B5E5D3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5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CB45-16A6-4F56-9A0C-AA3E752F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607CB-CB66-4962-B162-2D20F2AC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8BE0B-87A1-4077-8E53-F197E34C6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75CEC-C830-4B09-ADC6-475CB176C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8376F-C1E7-45F3-AA7A-535D5A6A1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EC59F-5FD0-4E47-86A9-F7BF67C1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88983-DE97-4D65-8E88-E5B10FD4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F458F-C823-4A60-8F10-3C356AC9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4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64A3-FF30-4B93-840B-D77035F7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5856E-D4AE-4384-8D20-010C2E9E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39CA3-6470-4FB2-BE40-7E22B45B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5C43-2D3E-4D45-85A9-91018827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93829-4A40-47FE-A3FC-A92D96EB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6919BE-CEFB-41F8-9878-77CB9D72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59C34-B601-439A-886D-DEE3EFEC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96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B61A-8D5E-4DF1-A9A3-C655DCB5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B1608-37E2-4C55-ADB3-37AA9C10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DC29C-9AF4-4B0A-AB15-20CC0334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6C115-D97E-4FD8-99AC-AE98B99A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552F4-E466-46CD-A71D-A2A6AD8E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F2AA9-7AA0-4541-85F8-F272D23FD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0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B9AD-81D1-4D43-9BFA-802D1DC6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F50C2-F3BD-49C9-A77E-C2B5766F5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EE250-0593-48F0-99EB-844710DD3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639C1-28A7-41DD-8EEA-47C2B0B4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A7726-2ACA-41C6-BD7B-B19857ED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9EF03-1C94-4DBA-A30F-ED1B5A43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E1A7-1589-45F9-BA46-8EEDBC4D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D3B49-886B-480C-B7E3-7C5884BFB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63B11-4143-4E93-94D7-8066E8AE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612B-57AE-459F-8222-48DB7575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EB9B-E14B-477F-9A04-D308F706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6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EBF78-5E9D-45BE-99C1-24BDA462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C89D2-4A96-4F39-9AE7-A10C4798E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674DC-8040-45E5-AE59-1D43829A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FEC93-9544-4770-B493-AFF9CA19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A8CFB-2ED5-4F3B-8078-7682F9AB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4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E6571-44E0-4811-82DF-A867CA9D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2CCC4-9A8D-4842-8D1D-96642D02F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2E03-CD5D-41D3-9FF9-4F68AE2DA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42D9B-214B-4E62-A308-9397A471A6F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9B1DE-6ADC-46C1-B567-3CB50AB62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1445-6AC6-438C-B3D5-F47E4EE6F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D153B-6B7D-4228-90FC-0DE5C27DD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47F1-9B3F-500F-B0F7-AE4AAC09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165F70E1-B307-8F82-01B9-2D24D5730F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34713"/>
            <a:ext cx="11684000" cy="291578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0F7BDF49-1117-E675-7204-83F092CF0711}"/>
              </a:ext>
            </a:extLst>
          </p:cNvPr>
          <p:cNvSpPr txBox="1"/>
          <p:nvPr/>
        </p:nvSpPr>
        <p:spPr>
          <a:xfrm>
            <a:off x="10227365" y="50689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1" anchor="ctr">
            <a:normAutofit fontScale="25000" lnSpcReduction="20000"/>
          </a:bodyPr>
          <a:lstStyle/>
          <a:p>
            <a: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ar-SA" sz="2400" dirty="0">
              <a:solidFill>
                <a:schemeClr val="accent5">
                  <a:lumMod val="50000"/>
                </a:schemeClr>
              </a:solidFill>
              <a:latin typeface="Cairo Medium" charset="-78"/>
              <a:cs typeface="Cairo Medium" charset="-78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898A3AD-93B8-77BA-10F9-0EB895244314}"/>
              </a:ext>
            </a:extLst>
          </p:cNvPr>
          <p:cNvSpPr txBox="1"/>
          <p:nvPr/>
        </p:nvSpPr>
        <p:spPr>
          <a:xfrm>
            <a:off x="9750287" y="25841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1" anchor="ctr">
            <a:normAutofit fontScale="25000" lnSpcReduction="20000"/>
          </a:bodyPr>
          <a:lstStyle/>
          <a:p>
            <a: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ar-SA" sz="2400" dirty="0">
              <a:solidFill>
                <a:schemeClr val="accent5">
                  <a:lumMod val="50000"/>
                </a:schemeClr>
              </a:solidFill>
              <a:latin typeface="Cairo Medium" charset="-78"/>
              <a:cs typeface="Cairo Medium" charset="-78"/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4E44C2BD-3CB7-EDDC-8D50-6B9F2AB8D5DA}"/>
              </a:ext>
            </a:extLst>
          </p:cNvPr>
          <p:cNvSpPr txBox="1"/>
          <p:nvPr/>
        </p:nvSpPr>
        <p:spPr>
          <a:xfrm>
            <a:off x="9417132" y="498764"/>
            <a:ext cx="0" cy="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91440" tIns="45720" rIns="91440" bIns="45720" rtlCol="1" anchor="ctr">
            <a:normAutofit fontScale="25000" lnSpcReduction="20000"/>
          </a:bodyPr>
          <a:lstStyle/>
          <a:p>
            <a: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ar-SA" sz="2400" dirty="0">
              <a:noFill/>
              <a:latin typeface="Cairo Medium" charset="-78"/>
              <a:cs typeface="Cairo Medium" charset="-78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4AE5760B-3CB1-8EAD-5458-F8D7494A1681}"/>
              </a:ext>
            </a:extLst>
          </p:cNvPr>
          <p:cNvSpPr txBox="1"/>
          <p:nvPr/>
        </p:nvSpPr>
        <p:spPr>
          <a:xfrm>
            <a:off x="472220" y="2633668"/>
            <a:ext cx="1146578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spcBef>
                <a:spcPct val="0"/>
              </a:spcBef>
            </a:pPr>
            <a:r>
              <a:rPr lang="ar-SA" sz="4000" b="1" dirty="0">
                <a:solidFill>
                  <a:srgbClr val="D9232A"/>
                </a:solidFill>
                <a:latin typeface="Frutiger LT Arabic 45 Light" pitchFamily="2" charset="-78"/>
                <a:ea typeface="DIN Next LT Arabic Bold"/>
                <a:cs typeface="Frutiger LT Arabic 45 Light" pitchFamily="2" charset="-78"/>
                <a:sym typeface="DIN Next LT Arabic Bold"/>
                <a:rtl/>
              </a:rPr>
              <a:t>الخطة التشغيلية السنوية 2025 م</a:t>
            </a:r>
          </a:p>
          <a:p>
            <a:pPr algn="ctr" rtl="1">
              <a:spcBef>
                <a:spcPct val="0"/>
              </a:spcBef>
            </a:pPr>
            <a:endParaRPr lang="ar-SA" sz="4000" b="1" dirty="0">
              <a:solidFill>
                <a:srgbClr val="D9232A"/>
              </a:solidFill>
              <a:latin typeface="Frutiger LT Arabic 45 Light" pitchFamily="2" charset="-78"/>
              <a:ea typeface="DIN Next LT Arabic Bold"/>
              <a:cs typeface="Frutiger LT Arabic 45 Light" pitchFamily="2" charset="-78"/>
              <a:sym typeface="DIN Next LT Arabic Bold"/>
              <a:rtl/>
            </a:endParaRPr>
          </a:p>
          <a:p>
            <a:pPr algn="ctr" rtl="1">
              <a:spcBef>
                <a:spcPct val="0"/>
              </a:spcBef>
            </a:pPr>
            <a:r>
              <a:rPr lang="ar-SA" sz="4000" b="1" dirty="0">
                <a:solidFill>
                  <a:srgbClr val="D9232A"/>
                </a:solidFill>
                <a:latin typeface="Frutiger LT Arabic 45 Light" pitchFamily="2" charset="-78"/>
                <a:ea typeface="DIN Next LT Arabic Bold"/>
                <a:cs typeface="Frutiger LT Arabic 45 Light" pitchFamily="2" charset="-78"/>
                <a:sym typeface="DIN Next LT Arabic Bold"/>
                <a:rtl/>
              </a:rPr>
              <a:t> لفرع (تبوك)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AD549-8C56-4F3C-8ED6-C8140E8E4754}"/>
              </a:ext>
            </a:extLst>
          </p:cNvPr>
          <p:cNvSpPr txBox="1"/>
          <p:nvPr/>
        </p:nvSpPr>
        <p:spPr>
          <a:xfrm>
            <a:off x="3794095" y="4977836"/>
            <a:ext cx="4476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4000" b="1" dirty="0">
                <a:solidFill>
                  <a:srgbClr val="D9232A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قطاع النائب</a:t>
            </a:r>
            <a:endParaRPr lang="en-US" sz="4000" b="1" dirty="0">
              <a:solidFill>
                <a:srgbClr val="D9232A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pic>
        <p:nvPicPr>
          <p:cNvPr id="2" name="صورة 2" descr="صورة تحتوي على دائرة, الرسومات, شعار, رمز&#10;&#10;تم إنشاء الوصف تلقائياً">
            <a:extLst>
              <a:ext uri="{FF2B5EF4-FFF2-40B4-BE49-F238E27FC236}">
                <a16:creationId xmlns:a16="http://schemas.microsoft.com/office/drawing/2014/main" id="{B6674CE4-446C-6310-D2F6-DF0932A9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735" y="257094"/>
            <a:ext cx="1839506" cy="187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79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F7F42A36-855B-4794-8188-A7FEF241D0B5}"/>
              </a:ext>
            </a:extLst>
          </p:cNvPr>
          <p:cNvSpPr/>
          <p:nvPr/>
        </p:nvSpPr>
        <p:spPr>
          <a:xfrm>
            <a:off x="98936" y="5638681"/>
            <a:ext cx="10246752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72D7F894-F74C-4C1B-96D0-5C3A922EE656}"/>
              </a:ext>
            </a:extLst>
          </p:cNvPr>
          <p:cNvSpPr/>
          <p:nvPr/>
        </p:nvSpPr>
        <p:spPr>
          <a:xfrm>
            <a:off x="99031" y="5019539"/>
            <a:ext cx="10232506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D952E8D-72BB-4F54-842D-7175CCCA56F6}"/>
              </a:ext>
            </a:extLst>
          </p:cNvPr>
          <p:cNvSpPr/>
          <p:nvPr/>
        </p:nvSpPr>
        <p:spPr>
          <a:xfrm>
            <a:off x="99065" y="3964327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FE72EEB2-55DC-4809-8927-7A7A1CF07E3C}"/>
              </a:ext>
            </a:extLst>
          </p:cNvPr>
          <p:cNvSpPr/>
          <p:nvPr/>
        </p:nvSpPr>
        <p:spPr>
          <a:xfrm>
            <a:off x="99065" y="2708660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7D627A27-1401-4C96-800B-208DE8708827}"/>
              </a:ext>
            </a:extLst>
          </p:cNvPr>
          <p:cNvSpPr/>
          <p:nvPr/>
        </p:nvSpPr>
        <p:spPr>
          <a:xfrm>
            <a:off x="98937" y="1373488"/>
            <a:ext cx="10227429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664BACC2-B75C-46F1-80AA-F458C6BA8BE4}"/>
              </a:ext>
            </a:extLst>
          </p:cNvPr>
          <p:cNvCxnSpPr>
            <a:stCxn id="16" idx="2"/>
            <a:endCxn id="25" idx="2"/>
          </p:cNvCxnSpPr>
          <p:nvPr/>
        </p:nvCxnSpPr>
        <p:spPr>
          <a:xfrm>
            <a:off x="11153731" y="2034929"/>
            <a:ext cx="1" cy="3910830"/>
          </a:xfrm>
          <a:prstGeom prst="line">
            <a:avLst/>
          </a:prstGeom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F8C38BDB-C8E0-4AF8-A666-1C7644E9BC8D}"/>
              </a:ext>
            </a:extLst>
          </p:cNvPr>
          <p:cNvSpPr/>
          <p:nvPr/>
        </p:nvSpPr>
        <p:spPr>
          <a:xfrm>
            <a:off x="10238361" y="1122364"/>
            <a:ext cx="1830739" cy="9125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الأهداف الاستراتيجية /الإدارة</a:t>
            </a:r>
            <a:endParaRPr kumimoji="0" lang="ar-AE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E98678CE-0F0C-4B7A-B04C-122AFEF21921}"/>
              </a:ext>
            </a:extLst>
          </p:cNvPr>
          <p:cNvSpPr/>
          <p:nvPr/>
        </p:nvSpPr>
        <p:spPr>
          <a:xfrm>
            <a:off x="10230578" y="2424120"/>
            <a:ext cx="1830739" cy="895528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أهداف الإدارة</a:t>
            </a:r>
            <a:endParaRPr kumimoji="0" lang="ar-AE" sz="11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0" name="Rounded Rectangle 56">
            <a:extLst>
              <a:ext uri="{FF2B5EF4-FFF2-40B4-BE49-F238E27FC236}">
                <a16:creationId xmlns:a16="http://schemas.microsoft.com/office/drawing/2014/main" id="{AC5BAA0D-5798-4871-A8C2-08FECFFBC893}"/>
              </a:ext>
            </a:extLst>
          </p:cNvPr>
          <p:cNvSpPr/>
          <p:nvPr/>
        </p:nvSpPr>
        <p:spPr>
          <a:xfrm>
            <a:off x="10232435" y="3796071"/>
            <a:ext cx="1835728" cy="699000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مؤشر قياس الأداء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2" name="Rounded Rectangle 82">
            <a:extLst>
              <a:ext uri="{FF2B5EF4-FFF2-40B4-BE49-F238E27FC236}">
                <a16:creationId xmlns:a16="http://schemas.microsoft.com/office/drawing/2014/main" id="{AED7F5AB-8AD8-4654-81D3-F2821B9D3644}"/>
              </a:ext>
            </a:extLst>
          </p:cNvPr>
          <p:cNvSpPr/>
          <p:nvPr/>
        </p:nvSpPr>
        <p:spPr>
          <a:xfrm>
            <a:off x="10233372" y="4873307"/>
            <a:ext cx="1835728" cy="447026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خط الأساس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5" name="Rounded Rectangle 93">
            <a:extLst>
              <a:ext uri="{FF2B5EF4-FFF2-40B4-BE49-F238E27FC236}">
                <a16:creationId xmlns:a16="http://schemas.microsoft.com/office/drawing/2014/main" id="{E497F1CE-4512-462A-9044-64F2B396567D}"/>
              </a:ext>
            </a:extLst>
          </p:cNvPr>
          <p:cNvSpPr/>
          <p:nvPr/>
        </p:nvSpPr>
        <p:spPr>
          <a:xfrm>
            <a:off x="10238362" y="5501028"/>
            <a:ext cx="1830739" cy="444731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المستهدف (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5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202)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pic>
        <p:nvPicPr>
          <p:cNvPr id="48" name="Picture 5" descr="Logo&#10;&#10;Description automatically generated">
            <a:extLst>
              <a:ext uri="{FF2B5EF4-FFF2-40B4-BE49-F238E27FC236}">
                <a16:creationId xmlns:a16="http://schemas.microsoft.com/office/drawing/2014/main" id="{4A06AC5F-0173-42C5-B655-B9FA9D9E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029" y="1157196"/>
            <a:ext cx="336656" cy="336656"/>
          </a:xfrm>
          <a:prstGeom prst="rect">
            <a:avLst/>
          </a:prstGeom>
        </p:spPr>
      </p:pic>
      <p:graphicFrame>
        <p:nvGraphicFramePr>
          <p:cNvPr id="49" name="Table 79">
            <a:extLst>
              <a:ext uri="{FF2B5EF4-FFF2-40B4-BE49-F238E27FC236}">
                <a16:creationId xmlns:a16="http://schemas.microsoft.com/office/drawing/2014/main" id="{F6A481EE-E31D-48B4-89B5-A54D4745C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308814"/>
              </p:ext>
            </p:extLst>
          </p:nvPr>
        </p:nvGraphicFramePr>
        <p:xfrm>
          <a:off x="4291560" y="-4315"/>
          <a:ext cx="7902524" cy="864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98524">
                  <a:extLst>
                    <a:ext uri="{9D8B030D-6E8A-4147-A177-3AD203B41FA5}">
                      <a16:colId xmlns:a16="http://schemas.microsoft.com/office/drawing/2014/main" val="27433199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12484745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9835668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72451511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87823315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الإدارة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 المرتبطة بالاستراتيجية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</a:t>
                      </a:r>
                      <a:r>
                        <a:rPr lang="ar-SA" sz="11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د المستهدفات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Frutiger LT Arabic 45 Light" panose="01000000000000000000" pitchFamily="2" charset="-78"/>
                          <a:ea typeface="+mn-ea"/>
                          <a:cs typeface="Frutiger LT Arabic 45 Light" panose="01000000000000000000" pitchFamily="2" charset="-78"/>
                        </a:rPr>
                        <a:t>عدد المشاريع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Frutiger LT Arabic 45 Light" panose="01000000000000000000" pitchFamily="2" charset="-78"/>
                        <a:ea typeface="+mn-ea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372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فرع تبوك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7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13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62316"/>
                  </a:ext>
                </a:extLst>
              </a:tr>
            </a:tbl>
          </a:graphicData>
        </a:graphic>
      </p:graphicFrame>
      <p:sp>
        <p:nvSpPr>
          <p:cNvPr id="165" name="Rounded Rectangle 3">
            <a:extLst>
              <a:ext uri="{FF2B5EF4-FFF2-40B4-BE49-F238E27FC236}">
                <a16:creationId xmlns:a16="http://schemas.microsoft.com/office/drawing/2014/main" id="{6D233965-C068-4A19-8E4E-31DCEA1FD41C}"/>
              </a:ext>
            </a:extLst>
          </p:cNvPr>
          <p:cNvSpPr/>
          <p:nvPr/>
        </p:nvSpPr>
        <p:spPr>
          <a:xfrm>
            <a:off x="3386704" y="1212250"/>
            <a:ext cx="3716951" cy="733609"/>
          </a:xfrm>
          <a:prstGeom prst="roundRect">
            <a:avLst/>
          </a:prstGeom>
          <a:solidFill>
            <a:srgbClr val="009A4D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تحقيق رحلة مريض نموذجية</a:t>
            </a:r>
            <a:endParaRPr kumimoji="0" lang="ar-AE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166" name="Shape 1943">
            <a:extLst>
              <a:ext uri="{FF2B5EF4-FFF2-40B4-BE49-F238E27FC236}">
                <a16:creationId xmlns:a16="http://schemas.microsoft.com/office/drawing/2014/main" id="{CEFDB8F0-18F0-4224-B781-1686F5DAE74A}"/>
              </a:ext>
            </a:extLst>
          </p:cNvPr>
          <p:cNvSpPr txBox="1">
            <a:spLocks/>
          </p:cNvSpPr>
          <p:nvPr/>
        </p:nvSpPr>
        <p:spPr>
          <a:xfrm>
            <a:off x="8204389" y="2395453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marL="0" marR="0" lvl="0" indent="0" algn="ctr" defTabSz="245255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مراحل الرحلة اللإسعافية بالوسائل المختلفة</a:t>
            </a:r>
          </a:p>
        </p:txBody>
      </p:sp>
      <p:sp>
        <p:nvSpPr>
          <p:cNvPr id="167" name="Shape 1943">
            <a:hlinkClick r:id="" action="ppaction://noaction"/>
            <a:extLst>
              <a:ext uri="{FF2B5EF4-FFF2-40B4-BE49-F238E27FC236}">
                <a16:creationId xmlns:a16="http://schemas.microsoft.com/office/drawing/2014/main" id="{A321FABB-8735-4C33-AC9A-A9BCD4F46DCC}"/>
              </a:ext>
            </a:extLst>
          </p:cNvPr>
          <p:cNvSpPr txBox="1">
            <a:spLocks/>
          </p:cNvSpPr>
          <p:nvPr/>
        </p:nvSpPr>
        <p:spPr>
          <a:xfrm>
            <a:off x="7957088" y="3684842"/>
            <a:ext cx="948645" cy="971032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>
              <a:defRPr/>
            </a:pPr>
            <a:r>
              <a:rPr lang="ar-SA" sz="8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بلاغات الطوارئ التي يتم البدء في معالجتها من قبل الفرق الاسعافية خلال </a:t>
            </a:r>
            <a:r>
              <a:rPr lang="en-US" sz="8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8</a:t>
            </a:r>
            <a:r>
              <a:rPr lang="ar-SA" sz="8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 دقائق منذ وصول مكالمة البلاغ</a:t>
            </a:r>
          </a:p>
        </p:txBody>
      </p:sp>
      <p:sp>
        <p:nvSpPr>
          <p:cNvPr id="168" name="Shape 1943">
            <a:hlinkClick r:id="" action="ppaction://noaction"/>
            <a:extLst>
              <a:ext uri="{FF2B5EF4-FFF2-40B4-BE49-F238E27FC236}">
                <a16:creationId xmlns:a16="http://schemas.microsoft.com/office/drawing/2014/main" id="{741F293B-B6BB-499B-9DD3-4BCF0BA54942}"/>
              </a:ext>
            </a:extLst>
          </p:cNvPr>
          <p:cNvSpPr txBox="1">
            <a:spLocks/>
          </p:cNvSpPr>
          <p:nvPr/>
        </p:nvSpPr>
        <p:spPr>
          <a:xfrm>
            <a:off x="6579035" y="3684842"/>
            <a:ext cx="948645" cy="926906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>
              <a:defRPr/>
            </a:pPr>
            <a:r>
              <a:rPr lang="ar-SA" dirty="0">
                <a:solidFill>
                  <a:schemeClr val="tx1"/>
                </a:solidFill>
              </a:rPr>
              <a:t>نسبة التزام العمليات الإسعافية بالسياسات والضوابط الإسعافية</a:t>
            </a:r>
          </a:p>
        </p:txBody>
      </p:sp>
      <p:sp>
        <p:nvSpPr>
          <p:cNvPr id="169" name="Shape 1943">
            <a:extLst>
              <a:ext uri="{FF2B5EF4-FFF2-40B4-BE49-F238E27FC236}">
                <a16:creationId xmlns:a16="http://schemas.microsoft.com/office/drawing/2014/main" id="{48001B15-7516-4441-AEF3-558BEF8EF811}"/>
              </a:ext>
            </a:extLst>
          </p:cNvPr>
          <p:cNvSpPr txBox="1">
            <a:spLocks/>
          </p:cNvSpPr>
          <p:nvPr/>
        </p:nvSpPr>
        <p:spPr>
          <a:xfrm>
            <a:off x="6711357" y="4905199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</a:p>
        </p:txBody>
      </p:sp>
      <p:sp>
        <p:nvSpPr>
          <p:cNvPr id="170" name="Shape 1943">
            <a:extLst>
              <a:ext uri="{FF2B5EF4-FFF2-40B4-BE49-F238E27FC236}">
                <a16:creationId xmlns:a16="http://schemas.microsoft.com/office/drawing/2014/main" id="{E05071B2-6150-48F7-B2D6-414DBED639B0}"/>
              </a:ext>
            </a:extLst>
          </p:cNvPr>
          <p:cNvSpPr txBox="1">
            <a:spLocks/>
          </p:cNvSpPr>
          <p:nvPr/>
        </p:nvSpPr>
        <p:spPr>
          <a:xfrm>
            <a:off x="6711357" y="5540134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%80</a:t>
            </a:r>
          </a:p>
        </p:txBody>
      </p:sp>
      <p:sp>
        <p:nvSpPr>
          <p:cNvPr id="171" name="Shape 1943">
            <a:extLst>
              <a:ext uri="{FF2B5EF4-FFF2-40B4-BE49-F238E27FC236}">
                <a16:creationId xmlns:a16="http://schemas.microsoft.com/office/drawing/2014/main" id="{7C498E24-1797-428F-84F7-98DEB8908AEC}"/>
              </a:ext>
            </a:extLst>
          </p:cNvPr>
          <p:cNvSpPr txBox="1">
            <a:spLocks/>
          </p:cNvSpPr>
          <p:nvPr/>
        </p:nvSpPr>
        <p:spPr>
          <a:xfrm>
            <a:off x="8089410" y="4905199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marL="0" marR="0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lang="ar-SA" sz="800" b="1" i="0" u="none" strike="noStrike" cap="none" dirty="0">
                <a:solidFill>
                  <a:schemeClr val="dk1"/>
                </a:solidFill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  <a:sym typeface="OpenSans"/>
              </a:rPr>
              <a:t>40.91</a:t>
            </a:r>
            <a:r>
              <a:rPr lang="en-US" sz="800" b="1" i="0" u="none" strike="noStrike" cap="none" dirty="0">
                <a:solidFill>
                  <a:schemeClr val="dk1"/>
                </a:solidFill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  <a:sym typeface="OpenSans"/>
              </a:rPr>
              <a:t>%</a:t>
            </a:r>
          </a:p>
        </p:txBody>
      </p:sp>
      <p:sp>
        <p:nvSpPr>
          <p:cNvPr id="172" name="Shape 1943">
            <a:extLst>
              <a:ext uri="{FF2B5EF4-FFF2-40B4-BE49-F238E27FC236}">
                <a16:creationId xmlns:a16="http://schemas.microsoft.com/office/drawing/2014/main" id="{DB2A862B-8E41-4FFF-821A-0EF5131D14D8}"/>
              </a:ext>
            </a:extLst>
          </p:cNvPr>
          <p:cNvSpPr txBox="1">
            <a:spLocks/>
          </p:cNvSpPr>
          <p:nvPr/>
        </p:nvSpPr>
        <p:spPr>
          <a:xfrm>
            <a:off x="8089410" y="5540134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44%</a:t>
            </a:r>
          </a:p>
        </p:txBody>
      </p:sp>
      <p:sp>
        <p:nvSpPr>
          <p:cNvPr id="173" name="Shape 1943">
            <a:hlinkClick r:id="" action="ppaction://noaction"/>
            <a:extLst>
              <a:ext uri="{FF2B5EF4-FFF2-40B4-BE49-F238E27FC236}">
                <a16:creationId xmlns:a16="http://schemas.microsoft.com/office/drawing/2014/main" id="{269B19A6-90E7-410E-8397-1F4ABBA8A228}"/>
              </a:ext>
            </a:extLst>
          </p:cNvPr>
          <p:cNvSpPr txBox="1">
            <a:spLocks/>
          </p:cNvSpPr>
          <p:nvPr/>
        </p:nvSpPr>
        <p:spPr>
          <a:xfrm>
            <a:off x="9017832" y="3684842"/>
            <a:ext cx="907822" cy="966212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متوسط زمن استجابة الإسعاف للحوادث المرورية </a:t>
            </a:r>
          </a:p>
        </p:txBody>
      </p:sp>
      <p:sp>
        <p:nvSpPr>
          <p:cNvPr id="174" name="Shape 1943">
            <a:extLst>
              <a:ext uri="{FF2B5EF4-FFF2-40B4-BE49-F238E27FC236}">
                <a16:creationId xmlns:a16="http://schemas.microsoft.com/office/drawing/2014/main" id="{A404AB45-0989-4629-8A4D-09DD5BF3425D}"/>
              </a:ext>
            </a:extLst>
          </p:cNvPr>
          <p:cNvSpPr txBox="1">
            <a:spLocks/>
          </p:cNvSpPr>
          <p:nvPr/>
        </p:nvSpPr>
        <p:spPr>
          <a:xfrm>
            <a:off x="9129743" y="4905199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marL="0" marR="0" indent="0" algn="ctr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</a:pPr>
            <a:r>
              <a:rPr lang="ar-SA" sz="800" b="1" i="0" u="none" strike="noStrike" cap="none" dirty="0">
                <a:solidFill>
                  <a:schemeClr val="dk1"/>
                </a:solidFill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  <a:sym typeface="OpenSans"/>
              </a:rPr>
              <a:t>12:47</a:t>
            </a:r>
            <a:endParaRPr lang="en-US" sz="800" b="1" i="0" u="none" strike="noStrike" cap="none" dirty="0">
              <a:solidFill>
                <a:schemeClr val="dk1"/>
              </a:solidFill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  <a:sym typeface="OpenSans"/>
            </a:endParaRPr>
          </a:p>
        </p:txBody>
      </p:sp>
      <p:sp>
        <p:nvSpPr>
          <p:cNvPr id="175" name="Shape 1943">
            <a:extLst>
              <a:ext uri="{FF2B5EF4-FFF2-40B4-BE49-F238E27FC236}">
                <a16:creationId xmlns:a16="http://schemas.microsoft.com/office/drawing/2014/main" id="{43DF5E27-7041-4C85-935B-A5BA9FFA032C}"/>
              </a:ext>
            </a:extLst>
          </p:cNvPr>
          <p:cNvSpPr txBox="1">
            <a:spLocks/>
          </p:cNvSpPr>
          <p:nvPr/>
        </p:nvSpPr>
        <p:spPr>
          <a:xfrm>
            <a:off x="9129743" y="5540134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10:00</a:t>
            </a:r>
          </a:p>
        </p:txBody>
      </p:sp>
      <p:sp>
        <p:nvSpPr>
          <p:cNvPr id="180" name="Shape 1943">
            <a:extLst>
              <a:ext uri="{FF2B5EF4-FFF2-40B4-BE49-F238E27FC236}">
                <a16:creationId xmlns:a16="http://schemas.microsoft.com/office/drawing/2014/main" id="{F0BA3763-7989-4C3F-86E6-C641DD3A1F8E}"/>
              </a:ext>
            </a:extLst>
          </p:cNvPr>
          <p:cNvSpPr txBox="1">
            <a:spLocks/>
          </p:cNvSpPr>
          <p:nvPr/>
        </p:nvSpPr>
        <p:spPr>
          <a:xfrm>
            <a:off x="6355814" y="2395453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900" b="1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منهجية العمل الاسعافي</a:t>
            </a:r>
            <a:endParaRPr lang="ar-SA" sz="900" b="1" dirty="0">
              <a:solidFill>
                <a:schemeClr val="bg1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188" name="Shape 1943">
            <a:extLst>
              <a:ext uri="{FF2B5EF4-FFF2-40B4-BE49-F238E27FC236}">
                <a16:creationId xmlns:a16="http://schemas.microsoft.com/office/drawing/2014/main" id="{DCAA92E1-A7D3-4EF9-9480-552E14B7DA94}"/>
              </a:ext>
            </a:extLst>
          </p:cNvPr>
          <p:cNvSpPr txBox="1">
            <a:spLocks/>
          </p:cNvSpPr>
          <p:nvPr/>
        </p:nvSpPr>
        <p:spPr>
          <a:xfrm>
            <a:off x="4550390" y="2395453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جودة الخدمة الطبية الإسعافية للإنعاش القلبي الرئوي</a:t>
            </a:r>
          </a:p>
        </p:txBody>
      </p:sp>
      <p:sp>
        <p:nvSpPr>
          <p:cNvPr id="189" name="Shape 1943">
            <a:hlinkClick r:id="" action="ppaction://noaction"/>
            <a:extLst>
              <a:ext uri="{FF2B5EF4-FFF2-40B4-BE49-F238E27FC236}">
                <a16:creationId xmlns:a16="http://schemas.microsoft.com/office/drawing/2014/main" id="{37325847-5170-40AF-A746-4D8CF37EBAEB}"/>
              </a:ext>
            </a:extLst>
          </p:cNvPr>
          <p:cNvSpPr txBox="1">
            <a:spLocks/>
          </p:cNvSpPr>
          <p:nvPr/>
        </p:nvSpPr>
        <p:spPr>
          <a:xfrm>
            <a:off x="4773611" y="3684842"/>
            <a:ext cx="948645" cy="949864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استعادة النبض بعد إجراء </a:t>
            </a:r>
            <a:r>
              <a:rPr lang="en-US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CPR</a:t>
            </a:r>
            <a:endParaRPr lang="ar-SA" sz="800" b="1" dirty="0">
              <a:solidFill>
                <a:schemeClr val="tx1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190" name="Shape 1943">
            <a:extLst>
              <a:ext uri="{FF2B5EF4-FFF2-40B4-BE49-F238E27FC236}">
                <a16:creationId xmlns:a16="http://schemas.microsoft.com/office/drawing/2014/main" id="{18296F42-C1F8-494C-8082-C7FD528E3E81}"/>
              </a:ext>
            </a:extLst>
          </p:cNvPr>
          <p:cNvSpPr txBox="1">
            <a:spLocks/>
          </p:cNvSpPr>
          <p:nvPr/>
        </p:nvSpPr>
        <p:spPr>
          <a:xfrm>
            <a:off x="4905933" y="4905199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12%</a:t>
            </a:r>
          </a:p>
        </p:txBody>
      </p:sp>
      <p:sp>
        <p:nvSpPr>
          <p:cNvPr id="191" name="Shape 1943">
            <a:extLst>
              <a:ext uri="{FF2B5EF4-FFF2-40B4-BE49-F238E27FC236}">
                <a16:creationId xmlns:a16="http://schemas.microsoft.com/office/drawing/2014/main" id="{8A6083BE-46A7-4B2D-AC78-F15332AD314A}"/>
              </a:ext>
            </a:extLst>
          </p:cNvPr>
          <p:cNvSpPr txBox="1">
            <a:spLocks/>
          </p:cNvSpPr>
          <p:nvPr/>
        </p:nvSpPr>
        <p:spPr>
          <a:xfrm>
            <a:off x="4905933" y="5540134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25%</a:t>
            </a:r>
            <a:endParaRPr lang="ar-SA" b="1" dirty="0">
              <a:solidFill>
                <a:schemeClr val="tx1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cxnSp>
        <p:nvCxnSpPr>
          <p:cNvPr id="195" name="Elbow Connector 30">
            <a:extLst>
              <a:ext uri="{FF2B5EF4-FFF2-40B4-BE49-F238E27FC236}">
                <a16:creationId xmlns:a16="http://schemas.microsoft.com/office/drawing/2014/main" id="{BB2863D1-F6A5-442E-9A10-4C423D7DA5D2}"/>
              </a:ext>
            </a:extLst>
          </p:cNvPr>
          <p:cNvCxnSpPr>
            <a:cxnSpLocks/>
            <a:stCxn id="165" idx="2"/>
            <a:endCxn id="188" idx="0"/>
          </p:cNvCxnSpPr>
          <p:nvPr/>
        </p:nvCxnSpPr>
        <p:spPr>
          <a:xfrm rot="16200000" flipH="1">
            <a:off x="5021760" y="2169279"/>
            <a:ext cx="449594" cy="27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Elbow Connector 30">
            <a:extLst>
              <a:ext uri="{FF2B5EF4-FFF2-40B4-BE49-F238E27FC236}">
                <a16:creationId xmlns:a16="http://schemas.microsoft.com/office/drawing/2014/main" id="{6A793C24-D5E6-4188-956B-EE918898E968}"/>
              </a:ext>
            </a:extLst>
          </p:cNvPr>
          <p:cNvCxnSpPr>
            <a:cxnSpLocks/>
            <a:stCxn id="165" idx="2"/>
            <a:endCxn id="180" idx="0"/>
          </p:cNvCxnSpPr>
          <p:nvPr/>
        </p:nvCxnSpPr>
        <p:spPr>
          <a:xfrm rot="16200000" flipH="1">
            <a:off x="5924472" y="1266567"/>
            <a:ext cx="449594" cy="18081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Elbow Connector 30">
            <a:extLst>
              <a:ext uri="{FF2B5EF4-FFF2-40B4-BE49-F238E27FC236}">
                <a16:creationId xmlns:a16="http://schemas.microsoft.com/office/drawing/2014/main" id="{EC26B64E-10CD-46EC-B5DA-808C2781FA5B}"/>
              </a:ext>
            </a:extLst>
          </p:cNvPr>
          <p:cNvCxnSpPr>
            <a:cxnSpLocks/>
            <a:stCxn id="165" idx="2"/>
            <a:endCxn id="166" idx="0"/>
          </p:cNvCxnSpPr>
          <p:nvPr/>
        </p:nvCxnSpPr>
        <p:spPr>
          <a:xfrm rot="16200000" flipH="1">
            <a:off x="6848759" y="342279"/>
            <a:ext cx="449594" cy="36567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Elbow Connector 30">
            <a:extLst>
              <a:ext uri="{FF2B5EF4-FFF2-40B4-BE49-F238E27FC236}">
                <a16:creationId xmlns:a16="http://schemas.microsoft.com/office/drawing/2014/main" id="{67E24760-AC6F-428C-98E5-D5C8C0BE9C69}"/>
              </a:ext>
            </a:extLst>
          </p:cNvPr>
          <p:cNvCxnSpPr>
            <a:cxnSpLocks/>
            <a:stCxn id="166" idx="2"/>
            <a:endCxn id="167" idx="0"/>
          </p:cNvCxnSpPr>
          <p:nvPr/>
        </p:nvCxnSpPr>
        <p:spPr>
          <a:xfrm rot="5400000">
            <a:off x="8525978" y="3308886"/>
            <a:ext cx="281389" cy="4705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Elbow Connector 30">
            <a:extLst>
              <a:ext uri="{FF2B5EF4-FFF2-40B4-BE49-F238E27FC236}">
                <a16:creationId xmlns:a16="http://schemas.microsoft.com/office/drawing/2014/main" id="{B567A6A5-2A0D-4AB8-B0CC-9A8007F2E5D3}"/>
              </a:ext>
            </a:extLst>
          </p:cNvPr>
          <p:cNvCxnSpPr>
            <a:cxnSpLocks/>
            <a:stCxn id="166" idx="2"/>
            <a:endCxn id="173" idx="0"/>
          </p:cNvCxnSpPr>
          <p:nvPr/>
        </p:nvCxnSpPr>
        <p:spPr>
          <a:xfrm rot="16200000" flipH="1">
            <a:off x="9046144" y="3259242"/>
            <a:ext cx="281389" cy="56981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7">
            <a:extLst>
              <a:ext uri="{FF2B5EF4-FFF2-40B4-BE49-F238E27FC236}">
                <a16:creationId xmlns:a16="http://schemas.microsoft.com/office/drawing/2014/main" id="{823F462B-AF91-464C-BB64-8D882D687F50}"/>
              </a:ext>
            </a:extLst>
          </p:cNvPr>
          <p:cNvCxnSpPr>
            <a:cxnSpLocks/>
            <a:stCxn id="188" idx="2"/>
            <a:endCxn id="189" idx="0"/>
          </p:cNvCxnSpPr>
          <p:nvPr/>
        </p:nvCxnSpPr>
        <p:spPr>
          <a:xfrm>
            <a:off x="5247934" y="3403453"/>
            <a:ext cx="0" cy="281389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8" name="Straight Connector 47">
            <a:extLst>
              <a:ext uri="{FF2B5EF4-FFF2-40B4-BE49-F238E27FC236}">
                <a16:creationId xmlns:a16="http://schemas.microsoft.com/office/drawing/2014/main" id="{9521AE20-3C14-4DDB-B466-71AEC5C51E52}"/>
              </a:ext>
            </a:extLst>
          </p:cNvPr>
          <p:cNvCxnSpPr>
            <a:cxnSpLocks/>
          </p:cNvCxnSpPr>
          <p:nvPr/>
        </p:nvCxnSpPr>
        <p:spPr>
          <a:xfrm>
            <a:off x="7053357" y="3401467"/>
            <a:ext cx="0" cy="28337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4" name="Straight Connector 47">
            <a:extLst>
              <a:ext uri="{FF2B5EF4-FFF2-40B4-BE49-F238E27FC236}">
                <a16:creationId xmlns:a16="http://schemas.microsoft.com/office/drawing/2014/main" id="{3F53FFBC-B3D2-4095-8080-DCC1D2C5FAC1}"/>
              </a:ext>
            </a:extLst>
          </p:cNvPr>
          <p:cNvCxnSpPr>
            <a:cxnSpLocks/>
            <a:stCxn id="189" idx="2"/>
            <a:endCxn id="190" idx="0"/>
          </p:cNvCxnSpPr>
          <p:nvPr/>
        </p:nvCxnSpPr>
        <p:spPr>
          <a:xfrm flipH="1">
            <a:off x="5247933" y="4634706"/>
            <a:ext cx="1" cy="270493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4" name="Straight Connector 47">
            <a:extLst>
              <a:ext uri="{FF2B5EF4-FFF2-40B4-BE49-F238E27FC236}">
                <a16:creationId xmlns:a16="http://schemas.microsoft.com/office/drawing/2014/main" id="{64696871-5A96-4564-BB5B-A455D7B13AEA}"/>
              </a:ext>
            </a:extLst>
          </p:cNvPr>
          <p:cNvCxnSpPr>
            <a:cxnSpLocks/>
            <a:stCxn id="168" idx="2"/>
            <a:endCxn id="169" idx="0"/>
          </p:cNvCxnSpPr>
          <p:nvPr/>
        </p:nvCxnSpPr>
        <p:spPr>
          <a:xfrm flipH="1">
            <a:off x="7053357" y="4611748"/>
            <a:ext cx="1" cy="29345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7" name="Straight Connector 47">
            <a:extLst>
              <a:ext uri="{FF2B5EF4-FFF2-40B4-BE49-F238E27FC236}">
                <a16:creationId xmlns:a16="http://schemas.microsoft.com/office/drawing/2014/main" id="{36D82577-D489-4C2A-B452-B5AAB6152D38}"/>
              </a:ext>
            </a:extLst>
          </p:cNvPr>
          <p:cNvCxnSpPr>
            <a:cxnSpLocks/>
            <a:stCxn id="167" idx="2"/>
            <a:endCxn id="171" idx="0"/>
          </p:cNvCxnSpPr>
          <p:nvPr/>
        </p:nvCxnSpPr>
        <p:spPr>
          <a:xfrm flipH="1">
            <a:off x="8431410" y="4655874"/>
            <a:ext cx="1" cy="24932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0" name="Straight Connector 47">
            <a:extLst>
              <a:ext uri="{FF2B5EF4-FFF2-40B4-BE49-F238E27FC236}">
                <a16:creationId xmlns:a16="http://schemas.microsoft.com/office/drawing/2014/main" id="{F257C92C-0113-4AE5-95A2-CE6D8AF76714}"/>
              </a:ext>
            </a:extLst>
          </p:cNvPr>
          <p:cNvCxnSpPr>
            <a:cxnSpLocks/>
            <a:stCxn id="173" idx="2"/>
            <a:endCxn id="174" idx="0"/>
          </p:cNvCxnSpPr>
          <p:nvPr/>
        </p:nvCxnSpPr>
        <p:spPr>
          <a:xfrm>
            <a:off x="9471743" y="4651054"/>
            <a:ext cx="0" cy="25414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3" name="Straight Connector 47">
            <a:extLst>
              <a:ext uri="{FF2B5EF4-FFF2-40B4-BE49-F238E27FC236}">
                <a16:creationId xmlns:a16="http://schemas.microsoft.com/office/drawing/2014/main" id="{57142493-4CB1-4702-B30A-BCE19775044C}"/>
              </a:ext>
            </a:extLst>
          </p:cNvPr>
          <p:cNvCxnSpPr>
            <a:cxnSpLocks/>
            <a:stCxn id="174" idx="2"/>
            <a:endCxn id="175" idx="0"/>
          </p:cNvCxnSpPr>
          <p:nvPr/>
        </p:nvCxnSpPr>
        <p:spPr>
          <a:xfrm>
            <a:off x="9471743" y="5337199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6" name="Straight Connector 47">
            <a:extLst>
              <a:ext uri="{FF2B5EF4-FFF2-40B4-BE49-F238E27FC236}">
                <a16:creationId xmlns:a16="http://schemas.microsoft.com/office/drawing/2014/main" id="{CEA0E2EE-78E4-4408-BD73-F850F8DCC4E6}"/>
              </a:ext>
            </a:extLst>
          </p:cNvPr>
          <p:cNvCxnSpPr>
            <a:cxnSpLocks/>
            <a:stCxn id="171" idx="2"/>
            <a:endCxn id="172" idx="0"/>
          </p:cNvCxnSpPr>
          <p:nvPr/>
        </p:nvCxnSpPr>
        <p:spPr>
          <a:xfrm>
            <a:off x="8431410" y="5337199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9" name="Straight Connector 47">
            <a:extLst>
              <a:ext uri="{FF2B5EF4-FFF2-40B4-BE49-F238E27FC236}">
                <a16:creationId xmlns:a16="http://schemas.microsoft.com/office/drawing/2014/main" id="{3CCBAC60-FD64-4D31-B28E-042CD9CE89BF}"/>
              </a:ext>
            </a:extLst>
          </p:cNvPr>
          <p:cNvCxnSpPr>
            <a:cxnSpLocks/>
            <a:stCxn id="169" idx="2"/>
            <a:endCxn id="170" idx="0"/>
          </p:cNvCxnSpPr>
          <p:nvPr/>
        </p:nvCxnSpPr>
        <p:spPr>
          <a:xfrm>
            <a:off x="7053357" y="5337199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8" name="Straight Connector 47">
            <a:extLst>
              <a:ext uri="{FF2B5EF4-FFF2-40B4-BE49-F238E27FC236}">
                <a16:creationId xmlns:a16="http://schemas.microsoft.com/office/drawing/2014/main" id="{E957A45F-7800-4E06-B649-44D715682857}"/>
              </a:ext>
            </a:extLst>
          </p:cNvPr>
          <p:cNvCxnSpPr>
            <a:cxnSpLocks/>
            <a:stCxn id="190" idx="2"/>
            <a:endCxn id="191" idx="0"/>
          </p:cNvCxnSpPr>
          <p:nvPr/>
        </p:nvCxnSpPr>
        <p:spPr>
          <a:xfrm>
            <a:off x="5247933" y="5337199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Shape 1943">
            <a:hlinkClick r:id="" action="ppaction://noaction"/>
            <a:extLst>
              <a:ext uri="{FF2B5EF4-FFF2-40B4-BE49-F238E27FC236}">
                <a16:creationId xmlns:a16="http://schemas.microsoft.com/office/drawing/2014/main" id="{9961171C-08E0-CFD2-A48B-5FEBF9D4ED4B}"/>
              </a:ext>
            </a:extLst>
          </p:cNvPr>
          <p:cNvSpPr txBox="1">
            <a:spLocks/>
          </p:cNvSpPr>
          <p:nvPr/>
        </p:nvSpPr>
        <p:spPr>
          <a:xfrm>
            <a:off x="2279739" y="3688815"/>
            <a:ext cx="948645" cy="926906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نسبة زمن خروج الوحدة الاسعافية عن الخدمة بسبب تعطل المركبات الاسعافية </a:t>
            </a:r>
          </a:p>
        </p:txBody>
      </p:sp>
      <p:sp>
        <p:nvSpPr>
          <p:cNvPr id="4" name="Shape 1943">
            <a:extLst>
              <a:ext uri="{FF2B5EF4-FFF2-40B4-BE49-F238E27FC236}">
                <a16:creationId xmlns:a16="http://schemas.microsoft.com/office/drawing/2014/main" id="{6CCE2281-9C92-1541-3427-DCA8AEE0A378}"/>
              </a:ext>
            </a:extLst>
          </p:cNvPr>
          <p:cNvSpPr txBox="1">
            <a:spLocks/>
          </p:cNvSpPr>
          <p:nvPr/>
        </p:nvSpPr>
        <p:spPr>
          <a:xfrm>
            <a:off x="2412061" y="4909172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5%</a:t>
            </a:r>
          </a:p>
        </p:txBody>
      </p:sp>
      <p:sp>
        <p:nvSpPr>
          <p:cNvPr id="5" name="Shape 1943">
            <a:extLst>
              <a:ext uri="{FF2B5EF4-FFF2-40B4-BE49-F238E27FC236}">
                <a16:creationId xmlns:a16="http://schemas.microsoft.com/office/drawing/2014/main" id="{8FC68FD5-3CB2-5972-E513-D796633A2A27}"/>
              </a:ext>
            </a:extLst>
          </p:cNvPr>
          <p:cNvSpPr txBox="1">
            <a:spLocks/>
          </p:cNvSpPr>
          <p:nvPr/>
        </p:nvSpPr>
        <p:spPr>
          <a:xfrm>
            <a:off x="2412061" y="5544107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pPr defTabSz="2452497">
              <a:defRPr/>
            </a:pPr>
            <a:r>
              <a:rPr lang="en-US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%</a:t>
            </a:r>
          </a:p>
        </p:txBody>
      </p:sp>
      <p:sp>
        <p:nvSpPr>
          <p:cNvPr id="12" name="Shape 1943">
            <a:extLst>
              <a:ext uri="{FF2B5EF4-FFF2-40B4-BE49-F238E27FC236}">
                <a16:creationId xmlns:a16="http://schemas.microsoft.com/office/drawing/2014/main" id="{8F883A4B-4598-31C9-5F8A-29868AA61F78}"/>
              </a:ext>
            </a:extLst>
          </p:cNvPr>
          <p:cNvSpPr txBox="1">
            <a:spLocks/>
          </p:cNvSpPr>
          <p:nvPr/>
        </p:nvSpPr>
        <p:spPr>
          <a:xfrm>
            <a:off x="2583649" y="2395453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جاهزية الخدمات الهندسية وسلاسل الامداد</a:t>
            </a:r>
          </a:p>
        </p:txBody>
      </p:sp>
      <p:sp>
        <p:nvSpPr>
          <p:cNvPr id="13" name="Shape 1943">
            <a:extLst>
              <a:ext uri="{FF2B5EF4-FFF2-40B4-BE49-F238E27FC236}">
                <a16:creationId xmlns:a16="http://schemas.microsoft.com/office/drawing/2014/main" id="{E801CBEB-6AD5-DFD0-2AF8-BF969B0885E3}"/>
              </a:ext>
            </a:extLst>
          </p:cNvPr>
          <p:cNvSpPr txBox="1">
            <a:spLocks/>
          </p:cNvSpPr>
          <p:nvPr/>
        </p:nvSpPr>
        <p:spPr>
          <a:xfrm>
            <a:off x="413853" y="2395453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كفاءة الهيئة للاستجابة والاستعداد للطوارئ</a:t>
            </a:r>
          </a:p>
        </p:txBody>
      </p:sp>
      <p:sp>
        <p:nvSpPr>
          <p:cNvPr id="14" name="Shape 1943">
            <a:hlinkClick r:id="" action="ppaction://noaction"/>
            <a:extLst>
              <a:ext uri="{FF2B5EF4-FFF2-40B4-BE49-F238E27FC236}">
                <a16:creationId xmlns:a16="http://schemas.microsoft.com/office/drawing/2014/main" id="{B12A91ED-B99A-5E44-ECB0-832857252A3B}"/>
              </a:ext>
            </a:extLst>
          </p:cNvPr>
          <p:cNvSpPr txBox="1">
            <a:spLocks/>
          </p:cNvSpPr>
          <p:nvPr/>
        </p:nvSpPr>
        <p:spPr>
          <a:xfrm>
            <a:off x="638718" y="3688814"/>
            <a:ext cx="945357" cy="941496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>
              <a:defRPr/>
            </a:pPr>
            <a:r>
              <a:rPr lang="ar-SA" dirty="0">
                <a:solidFill>
                  <a:schemeClr val="tx1"/>
                </a:solidFill>
              </a:rPr>
              <a:t>نسبة الإجراءات التصحيحية للفرضيات</a:t>
            </a:r>
          </a:p>
          <a:p>
            <a:pPr>
              <a:defRPr/>
            </a:pPr>
            <a:r>
              <a:rPr lang="ar-SA" dirty="0">
                <a:solidFill>
                  <a:schemeClr val="tx1"/>
                </a:solidFill>
              </a:rPr>
              <a:t> ( هلال )</a:t>
            </a:r>
          </a:p>
        </p:txBody>
      </p:sp>
      <p:sp>
        <p:nvSpPr>
          <p:cNvPr id="15" name="Shape 1943">
            <a:extLst>
              <a:ext uri="{FF2B5EF4-FFF2-40B4-BE49-F238E27FC236}">
                <a16:creationId xmlns:a16="http://schemas.microsoft.com/office/drawing/2014/main" id="{7A8F455C-DD62-9D18-D87A-5EE3F5F8217D}"/>
              </a:ext>
            </a:extLst>
          </p:cNvPr>
          <p:cNvSpPr txBox="1">
            <a:spLocks/>
          </p:cNvSpPr>
          <p:nvPr/>
        </p:nvSpPr>
        <p:spPr>
          <a:xfrm>
            <a:off x="769396" y="4909171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</a:p>
        </p:txBody>
      </p:sp>
      <p:sp>
        <p:nvSpPr>
          <p:cNvPr id="18" name="Shape 1943">
            <a:extLst>
              <a:ext uri="{FF2B5EF4-FFF2-40B4-BE49-F238E27FC236}">
                <a16:creationId xmlns:a16="http://schemas.microsoft.com/office/drawing/2014/main" id="{E166F2CA-3DD9-6F82-09F0-B0C28BE43047}"/>
              </a:ext>
            </a:extLst>
          </p:cNvPr>
          <p:cNvSpPr txBox="1">
            <a:spLocks/>
          </p:cNvSpPr>
          <p:nvPr/>
        </p:nvSpPr>
        <p:spPr>
          <a:xfrm>
            <a:off x="769396" y="5544106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70%</a:t>
            </a:r>
          </a:p>
        </p:txBody>
      </p:sp>
      <p:cxnSp>
        <p:nvCxnSpPr>
          <p:cNvPr id="19" name="Elbow Connector 30">
            <a:extLst>
              <a:ext uri="{FF2B5EF4-FFF2-40B4-BE49-F238E27FC236}">
                <a16:creationId xmlns:a16="http://schemas.microsoft.com/office/drawing/2014/main" id="{605941B8-9DEC-8B1C-4A7C-6B18FFFB25E2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1111398" y="2168105"/>
            <a:ext cx="2176883" cy="22734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30">
            <a:extLst>
              <a:ext uri="{FF2B5EF4-FFF2-40B4-BE49-F238E27FC236}">
                <a16:creationId xmlns:a16="http://schemas.microsoft.com/office/drawing/2014/main" id="{8FDDB832-44D3-D001-AEC1-DF3643E7D1E4}"/>
              </a:ext>
            </a:extLst>
          </p:cNvPr>
          <p:cNvCxnSpPr>
            <a:cxnSpLocks/>
            <a:stCxn id="165" idx="2"/>
            <a:endCxn id="12" idx="0"/>
          </p:cNvCxnSpPr>
          <p:nvPr/>
        </p:nvCxnSpPr>
        <p:spPr>
          <a:xfrm rot="5400000">
            <a:off x="4038390" y="1188663"/>
            <a:ext cx="449594" cy="196398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47">
            <a:extLst>
              <a:ext uri="{FF2B5EF4-FFF2-40B4-BE49-F238E27FC236}">
                <a16:creationId xmlns:a16="http://schemas.microsoft.com/office/drawing/2014/main" id="{3DEB3BE9-34CE-7E23-88A5-0580A496080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111397" y="3403453"/>
            <a:ext cx="0" cy="28536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47">
            <a:extLst>
              <a:ext uri="{FF2B5EF4-FFF2-40B4-BE49-F238E27FC236}">
                <a16:creationId xmlns:a16="http://schemas.microsoft.com/office/drawing/2014/main" id="{DB65F6E2-8CAD-72A9-A362-911C7D03405C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1111396" y="4630310"/>
            <a:ext cx="1" cy="27886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47">
            <a:extLst>
              <a:ext uri="{FF2B5EF4-FFF2-40B4-BE49-F238E27FC236}">
                <a16:creationId xmlns:a16="http://schemas.microsoft.com/office/drawing/2014/main" id="{8B2E48E1-E464-75EF-7616-360B37FDC84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754061" y="4615721"/>
            <a:ext cx="1" cy="29345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Connector 47">
            <a:extLst>
              <a:ext uri="{FF2B5EF4-FFF2-40B4-BE49-F238E27FC236}">
                <a16:creationId xmlns:a16="http://schemas.microsoft.com/office/drawing/2014/main" id="{FACD18B6-B711-7AA7-4C7D-2268A0DA00F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754061" y="5341172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47">
            <a:extLst>
              <a:ext uri="{FF2B5EF4-FFF2-40B4-BE49-F238E27FC236}">
                <a16:creationId xmlns:a16="http://schemas.microsoft.com/office/drawing/2014/main" id="{D3068C6A-C326-4BB9-11F7-2F3A5CE0D8F6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1111396" y="5341171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Shape 1943">
            <a:hlinkClick r:id="" action="ppaction://noaction"/>
            <a:extLst>
              <a:ext uri="{FF2B5EF4-FFF2-40B4-BE49-F238E27FC236}">
                <a16:creationId xmlns:a16="http://schemas.microsoft.com/office/drawing/2014/main" id="{F7FA93C1-A714-23F4-27DF-A0792D789073}"/>
              </a:ext>
            </a:extLst>
          </p:cNvPr>
          <p:cNvSpPr txBox="1">
            <a:spLocks/>
          </p:cNvSpPr>
          <p:nvPr/>
        </p:nvSpPr>
        <p:spPr>
          <a:xfrm>
            <a:off x="3356494" y="3688815"/>
            <a:ext cx="948645" cy="926906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 defTabSz="1225973" rtl="1">
              <a:lnSpc>
                <a:spcPct val="110000"/>
              </a:lnSpc>
              <a:defRPr/>
            </a:pPr>
            <a:r>
              <a:rPr lang="ar-SA" sz="8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زمن خروج الوحدة الإسعافية عن الخدمة بسبب تعطل او نقص التجهيزات الطبية الاساسية</a:t>
            </a:r>
          </a:p>
        </p:txBody>
      </p:sp>
      <p:sp>
        <p:nvSpPr>
          <p:cNvPr id="30" name="Shape 1943">
            <a:extLst>
              <a:ext uri="{FF2B5EF4-FFF2-40B4-BE49-F238E27FC236}">
                <a16:creationId xmlns:a16="http://schemas.microsoft.com/office/drawing/2014/main" id="{6D197B6A-006F-6353-49EE-9E488E8D44D6}"/>
              </a:ext>
            </a:extLst>
          </p:cNvPr>
          <p:cNvSpPr txBox="1">
            <a:spLocks/>
          </p:cNvSpPr>
          <p:nvPr/>
        </p:nvSpPr>
        <p:spPr>
          <a:xfrm>
            <a:off x="3488816" y="4909172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5%</a:t>
            </a:r>
          </a:p>
        </p:txBody>
      </p:sp>
      <p:sp>
        <p:nvSpPr>
          <p:cNvPr id="31" name="Shape 1943">
            <a:extLst>
              <a:ext uri="{FF2B5EF4-FFF2-40B4-BE49-F238E27FC236}">
                <a16:creationId xmlns:a16="http://schemas.microsoft.com/office/drawing/2014/main" id="{A61BDEF4-E260-DAD4-C19E-AE347252B5E4}"/>
              </a:ext>
            </a:extLst>
          </p:cNvPr>
          <p:cNvSpPr txBox="1">
            <a:spLocks/>
          </p:cNvSpPr>
          <p:nvPr/>
        </p:nvSpPr>
        <p:spPr>
          <a:xfrm>
            <a:off x="3488816" y="5544107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pPr defTabSz="2452497">
              <a:defRPr/>
            </a:pPr>
            <a:r>
              <a:rPr lang="en-US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%</a:t>
            </a:r>
          </a:p>
        </p:txBody>
      </p:sp>
      <p:cxnSp>
        <p:nvCxnSpPr>
          <p:cNvPr id="32" name="Straight Connector 47">
            <a:extLst>
              <a:ext uri="{FF2B5EF4-FFF2-40B4-BE49-F238E27FC236}">
                <a16:creationId xmlns:a16="http://schemas.microsoft.com/office/drawing/2014/main" id="{22605381-5072-3CC9-9DD2-2919EAD2F2CF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3830816" y="4615721"/>
            <a:ext cx="1" cy="29345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47">
            <a:extLst>
              <a:ext uri="{FF2B5EF4-FFF2-40B4-BE49-F238E27FC236}">
                <a16:creationId xmlns:a16="http://schemas.microsoft.com/office/drawing/2014/main" id="{101F9034-8AE7-39E0-0603-455651A43239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3830816" y="5341172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Elbow Connector 30">
            <a:extLst>
              <a:ext uri="{FF2B5EF4-FFF2-40B4-BE49-F238E27FC236}">
                <a16:creationId xmlns:a16="http://schemas.microsoft.com/office/drawing/2014/main" id="{4F10429A-6D6D-652B-995A-B822F38070B7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 rot="5400000">
            <a:off x="2874947" y="3282569"/>
            <a:ext cx="285362" cy="52713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0">
            <a:extLst>
              <a:ext uri="{FF2B5EF4-FFF2-40B4-BE49-F238E27FC236}">
                <a16:creationId xmlns:a16="http://schemas.microsoft.com/office/drawing/2014/main" id="{24CE8731-02F9-4661-C59A-D1FE4E555F39}"/>
              </a:ext>
            </a:extLst>
          </p:cNvPr>
          <p:cNvCxnSpPr>
            <a:cxnSpLocks/>
            <a:stCxn id="12" idx="2"/>
            <a:endCxn id="29" idx="0"/>
          </p:cNvCxnSpPr>
          <p:nvPr/>
        </p:nvCxnSpPr>
        <p:spPr>
          <a:xfrm rot="16200000" flipH="1">
            <a:off x="3413324" y="3271322"/>
            <a:ext cx="285362" cy="54962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صورة 35">
            <a:extLst>
              <a:ext uri="{FF2B5EF4-FFF2-40B4-BE49-F238E27FC236}">
                <a16:creationId xmlns:a16="http://schemas.microsoft.com/office/drawing/2014/main" id="{D0C9FC33-16DC-8F5E-13DD-98ABC78D5B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06" t="11690"/>
          <a:stretch/>
        </p:blipFill>
        <p:spPr>
          <a:xfrm flipV="1">
            <a:off x="254000" y="6434713"/>
            <a:ext cx="11684000" cy="29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41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F7F42A36-855B-4794-8188-A7FEF241D0B5}"/>
              </a:ext>
            </a:extLst>
          </p:cNvPr>
          <p:cNvSpPr/>
          <p:nvPr/>
        </p:nvSpPr>
        <p:spPr>
          <a:xfrm>
            <a:off x="98936" y="5638681"/>
            <a:ext cx="10246752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72D7F894-F74C-4C1B-96D0-5C3A922EE656}"/>
              </a:ext>
            </a:extLst>
          </p:cNvPr>
          <p:cNvSpPr/>
          <p:nvPr/>
        </p:nvSpPr>
        <p:spPr>
          <a:xfrm>
            <a:off x="99031" y="5019539"/>
            <a:ext cx="10232506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D952E8D-72BB-4F54-842D-7175CCCA56F6}"/>
              </a:ext>
            </a:extLst>
          </p:cNvPr>
          <p:cNvSpPr/>
          <p:nvPr/>
        </p:nvSpPr>
        <p:spPr>
          <a:xfrm>
            <a:off x="99065" y="3964327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FE72EEB2-55DC-4809-8927-7A7A1CF07E3C}"/>
              </a:ext>
            </a:extLst>
          </p:cNvPr>
          <p:cNvSpPr/>
          <p:nvPr/>
        </p:nvSpPr>
        <p:spPr>
          <a:xfrm>
            <a:off x="99065" y="2708660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7D627A27-1401-4C96-800B-208DE8708827}"/>
              </a:ext>
            </a:extLst>
          </p:cNvPr>
          <p:cNvSpPr/>
          <p:nvPr/>
        </p:nvSpPr>
        <p:spPr>
          <a:xfrm>
            <a:off x="98937" y="1373488"/>
            <a:ext cx="10227429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664BACC2-B75C-46F1-80AA-F458C6BA8BE4}"/>
              </a:ext>
            </a:extLst>
          </p:cNvPr>
          <p:cNvCxnSpPr>
            <a:stCxn id="16" idx="2"/>
            <a:endCxn id="25" idx="2"/>
          </p:cNvCxnSpPr>
          <p:nvPr/>
        </p:nvCxnSpPr>
        <p:spPr>
          <a:xfrm>
            <a:off x="11153731" y="2034929"/>
            <a:ext cx="1" cy="3910830"/>
          </a:xfrm>
          <a:prstGeom prst="line">
            <a:avLst/>
          </a:prstGeom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F8C38BDB-C8E0-4AF8-A666-1C7644E9BC8D}"/>
              </a:ext>
            </a:extLst>
          </p:cNvPr>
          <p:cNvSpPr/>
          <p:nvPr/>
        </p:nvSpPr>
        <p:spPr>
          <a:xfrm>
            <a:off x="10238361" y="1122364"/>
            <a:ext cx="1830739" cy="9125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الأهداف الاستراتيجية /الإدارة</a:t>
            </a:r>
            <a:endParaRPr kumimoji="0" lang="ar-AE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E98678CE-0F0C-4B7A-B04C-122AFEF21921}"/>
              </a:ext>
            </a:extLst>
          </p:cNvPr>
          <p:cNvSpPr/>
          <p:nvPr/>
        </p:nvSpPr>
        <p:spPr>
          <a:xfrm>
            <a:off x="10230578" y="2424120"/>
            <a:ext cx="1830739" cy="895528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أهداف الإدارة</a:t>
            </a:r>
            <a:endParaRPr kumimoji="0" lang="ar-AE" sz="11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0" name="Rounded Rectangle 56">
            <a:extLst>
              <a:ext uri="{FF2B5EF4-FFF2-40B4-BE49-F238E27FC236}">
                <a16:creationId xmlns:a16="http://schemas.microsoft.com/office/drawing/2014/main" id="{AC5BAA0D-5798-4871-A8C2-08FECFFBC893}"/>
              </a:ext>
            </a:extLst>
          </p:cNvPr>
          <p:cNvSpPr/>
          <p:nvPr/>
        </p:nvSpPr>
        <p:spPr>
          <a:xfrm>
            <a:off x="10232435" y="3796071"/>
            <a:ext cx="1835728" cy="699000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مؤشر قياس الأداء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2" name="Rounded Rectangle 82">
            <a:extLst>
              <a:ext uri="{FF2B5EF4-FFF2-40B4-BE49-F238E27FC236}">
                <a16:creationId xmlns:a16="http://schemas.microsoft.com/office/drawing/2014/main" id="{AED7F5AB-8AD8-4654-81D3-F2821B9D3644}"/>
              </a:ext>
            </a:extLst>
          </p:cNvPr>
          <p:cNvSpPr/>
          <p:nvPr/>
        </p:nvSpPr>
        <p:spPr>
          <a:xfrm>
            <a:off x="10233372" y="4873307"/>
            <a:ext cx="1835728" cy="447026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خط الأساس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5" name="Rounded Rectangle 93">
            <a:extLst>
              <a:ext uri="{FF2B5EF4-FFF2-40B4-BE49-F238E27FC236}">
                <a16:creationId xmlns:a16="http://schemas.microsoft.com/office/drawing/2014/main" id="{E497F1CE-4512-462A-9044-64F2B396567D}"/>
              </a:ext>
            </a:extLst>
          </p:cNvPr>
          <p:cNvSpPr/>
          <p:nvPr/>
        </p:nvSpPr>
        <p:spPr>
          <a:xfrm>
            <a:off x="10238362" y="5501028"/>
            <a:ext cx="1830739" cy="444731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المستهدف (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5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202)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pic>
        <p:nvPicPr>
          <p:cNvPr id="48" name="Picture 5" descr="Logo&#10;&#10;Description automatically generated">
            <a:extLst>
              <a:ext uri="{FF2B5EF4-FFF2-40B4-BE49-F238E27FC236}">
                <a16:creationId xmlns:a16="http://schemas.microsoft.com/office/drawing/2014/main" id="{4A06AC5F-0173-42C5-B655-B9FA9D9E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029" y="1157196"/>
            <a:ext cx="336656" cy="336656"/>
          </a:xfrm>
          <a:prstGeom prst="rect">
            <a:avLst/>
          </a:prstGeom>
        </p:spPr>
      </p:pic>
      <p:graphicFrame>
        <p:nvGraphicFramePr>
          <p:cNvPr id="49" name="Table 79">
            <a:extLst>
              <a:ext uri="{FF2B5EF4-FFF2-40B4-BE49-F238E27FC236}">
                <a16:creationId xmlns:a16="http://schemas.microsoft.com/office/drawing/2014/main" id="{F6A481EE-E31D-48B4-89B5-A54D4745C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321642"/>
              </p:ext>
            </p:extLst>
          </p:nvPr>
        </p:nvGraphicFramePr>
        <p:xfrm>
          <a:off x="4291560" y="-4315"/>
          <a:ext cx="7902524" cy="864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98524">
                  <a:extLst>
                    <a:ext uri="{9D8B030D-6E8A-4147-A177-3AD203B41FA5}">
                      <a16:colId xmlns:a16="http://schemas.microsoft.com/office/drawing/2014/main" val="27433199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12484745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9835668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72451511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87823315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الإدارة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 المرتبطة بالاستراتيجية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</a:t>
                      </a:r>
                      <a:r>
                        <a:rPr lang="ar-SA" sz="11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د المستهدفات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Frutiger LT Arabic 45 Light" panose="01000000000000000000" pitchFamily="2" charset="-78"/>
                          <a:ea typeface="+mn-ea"/>
                          <a:cs typeface="Frutiger LT Arabic 45 Light" panose="01000000000000000000" pitchFamily="2" charset="-78"/>
                        </a:rPr>
                        <a:t>عدد المشاريع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Frutiger LT Arabic 45 Light" panose="01000000000000000000" pitchFamily="2" charset="-78"/>
                        <a:ea typeface="+mn-ea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372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فرع تبوك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7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13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62316"/>
                  </a:ext>
                </a:extLst>
              </a:tr>
            </a:tbl>
          </a:graphicData>
        </a:graphic>
      </p:graphicFrame>
      <p:sp>
        <p:nvSpPr>
          <p:cNvPr id="176" name="Shape 1943">
            <a:extLst>
              <a:ext uri="{FF2B5EF4-FFF2-40B4-BE49-F238E27FC236}">
                <a16:creationId xmlns:a16="http://schemas.microsoft.com/office/drawing/2014/main" id="{65D70ED1-DCCC-4E2E-AE48-799083B5082D}"/>
              </a:ext>
            </a:extLst>
          </p:cNvPr>
          <p:cNvSpPr txBox="1">
            <a:spLocks/>
          </p:cNvSpPr>
          <p:nvPr/>
        </p:nvSpPr>
        <p:spPr>
          <a:xfrm>
            <a:off x="6871553" y="2322960"/>
            <a:ext cx="1395087" cy="990584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تطبيق المعايير المحلية والدولية لتعزيز الجودة ورفع كفاءة الخدمات الإسعافية</a:t>
            </a:r>
          </a:p>
        </p:txBody>
      </p:sp>
      <p:sp>
        <p:nvSpPr>
          <p:cNvPr id="177" name="Shape 1943">
            <a:hlinkClick r:id="" action="ppaction://noaction"/>
            <a:extLst>
              <a:ext uri="{FF2B5EF4-FFF2-40B4-BE49-F238E27FC236}">
                <a16:creationId xmlns:a16="http://schemas.microsoft.com/office/drawing/2014/main" id="{C6241F6F-9C20-4030-A2FF-25192ED04A12}"/>
              </a:ext>
            </a:extLst>
          </p:cNvPr>
          <p:cNvSpPr txBox="1">
            <a:spLocks/>
          </p:cNvSpPr>
          <p:nvPr/>
        </p:nvSpPr>
        <p:spPr>
          <a:xfrm>
            <a:off x="7131760" y="3616946"/>
            <a:ext cx="948645" cy="955887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r>
              <a:rPr lang="ar-SA" dirty="0"/>
              <a:t>نسبة معايير الحد الأدنى المحققة في القطاعات أو المراكز الاسعافية من المعيار الوطني للخدمات الطبية الاسعافية</a:t>
            </a:r>
          </a:p>
        </p:txBody>
      </p:sp>
      <p:sp>
        <p:nvSpPr>
          <p:cNvPr id="178" name="Shape 1943">
            <a:extLst>
              <a:ext uri="{FF2B5EF4-FFF2-40B4-BE49-F238E27FC236}">
                <a16:creationId xmlns:a16="http://schemas.microsoft.com/office/drawing/2014/main" id="{D760CC03-4296-4FDB-8F32-D585BD3C9F06}"/>
              </a:ext>
            </a:extLst>
          </p:cNvPr>
          <p:cNvSpPr txBox="1">
            <a:spLocks/>
          </p:cNvSpPr>
          <p:nvPr/>
        </p:nvSpPr>
        <p:spPr>
          <a:xfrm>
            <a:off x="7239005" y="4859810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30%</a:t>
            </a:r>
          </a:p>
        </p:txBody>
      </p:sp>
      <p:sp>
        <p:nvSpPr>
          <p:cNvPr id="179" name="Shape 1943">
            <a:extLst>
              <a:ext uri="{FF2B5EF4-FFF2-40B4-BE49-F238E27FC236}">
                <a16:creationId xmlns:a16="http://schemas.microsoft.com/office/drawing/2014/main" id="{62546849-3D9A-473F-936E-FC91DC1A4A12}"/>
              </a:ext>
            </a:extLst>
          </p:cNvPr>
          <p:cNvSpPr txBox="1">
            <a:spLocks/>
          </p:cNvSpPr>
          <p:nvPr/>
        </p:nvSpPr>
        <p:spPr>
          <a:xfrm>
            <a:off x="7216576" y="5529055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70%</a:t>
            </a:r>
          </a:p>
        </p:txBody>
      </p:sp>
      <p:cxnSp>
        <p:nvCxnSpPr>
          <p:cNvPr id="251" name="Straight Connector 47">
            <a:extLst>
              <a:ext uri="{FF2B5EF4-FFF2-40B4-BE49-F238E27FC236}">
                <a16:creationId xmlns:a16="http://schemas.microsoft.com/office/drawing/2014/main" id="{971B7C83-9481-4B10-8C6D-7E52A7A9484E}"/>
              </a:ext>
            </a:extLst>
          </p:cNvPr>
          <p:cNvCxnSpPr>
            <a:cxnSpLocks/>
          </p:cNvCxnSpPr>
          <p:nvPr/>
        </p:nvCxnSpPr>
        <p:spPr>
          <a:xfrm flipH="1">
            <a:off x="7573352" y="4568021"/>
            <a:ext cx="1" cy="264470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2" name="Straight Connector 47">
            <a:extLst>
              <a:ext uri="{FF2B5EF4-FFF2-40B4-BE49-F238E27FC236}">
                <a16:creationId xmlns:a16="http://schemas.microsoft.com/office/drawing/2014/main" id="{1186C668-0340-40F8-A3F5-5BBE83DB013D}"/>
              </a:ext>
            </a:extLst>
          </p:cNvPr>
          <p:cNvCxnSpPr>
            <a:cxnSpLocks/>
          </p:cNvCxnSpPr>
          <p:nvPr/>
        </p:nvCxnSpPr>
        <p:spPr>
          <a:xfrm>
            <a:off x="7573352" y="5328067"/>
            <a:ext cx="0" cy="20293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47">
            <a:extLst>
              <a:ext uri="{FF2B5EF4-FFF2-40B4-BE49-F238E27FC236}">
                <a16:creationId xmlns:a16="http://schemas.microsoft.com/office/drawing/2014/main" id="{E1DA4381-9FAE-403E-9EB9-2FEC98006D4C}"/>
              </a:ext>
            </a:extLst>
          </p:cNvPr>
          <p:cNvCxnSpPr>
            <a:cxnSpLocks/>
          </p:cNvCxnSpPr>
          <p:nvPr/>
        </p:nvCxnSpPr>
        <p:spPr>
          <a:xfrm>
            <a:off x="7606083" y="3312056"/>
            <a:ext cx="0" cy="283375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E8E4A175-864C-C306-EEEB-9409112D283B}"/>
              </a:ext>
            </a:extLst>
          </p:cNvPr>
          <p:cNvSpPr/>
          <p:nvPr/>
        </p:nvSpPr>
        <p:spPr>
          <a:xfrm>
            <a:off x="6428062" y="1220651"/>
            <a:ext cx="2289977" cy="733609"/>
          </a:xfrm>
          <a:prstGeom prst="roundRect">
            <a:avLst/>
          </a:prstGeom>
          <a:solidFill>
            <a:srgbClr val="009A4D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بنية تنظيمية راسخة</a:t>
            </a:r>
            <a:endParaRPr kumimoji="0" lang="ar-AE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cxnSp>
        <p:nvCxnSpPr>
          <p:cNvPr id="34" name="Straight Connector 47">
            <a:extLst>
              <a:ext uri="{FF2B5EF4-FFF2-40B4-BE49-F238E27FC236}">
                <a16:creationId xmlns:a16="http://schemas.microsoft.com/office/drawing/2014/main" id="{9BC5E1E8-0E46-320D-411B-FF0F204C43D2}"/>
              </a:ext>
            </a:extLst>
          </p:cNvPr>
          <p:cNvCxnSpPr>
            <a:cxnSpLocks/>
            <a:stCxn id="26" idx="2"/>
            <a:endCxn id="176" idx="0"/>
          </p:cNvCxnSpPr>
          <p:nvPr/>
        </p:nvCxnSpPr>
        <p:spPr>
          <a:xfrm flipH="1">
            <a:off x="7569097" y="1954260"/>
            <a:ext cx="3954" cy="368700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" name="صورة 1">
            <a:extLst>
              <a:ext uri="{FF2B5EF4-FFF2-40B4-BE49-F238E27FC236}">
                <a16:creationId xmlns:a16="http://schemas.microsoft.com/office/drawing/2014/main" id="{70E45B3D-5110-5B09-7415-4F0BE6FD3F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06" t="11690"/>
          <a:stretch/>
        </p:blipFill>
        <p:spPr>
          <a:xfrm flipV="1">
            <a:off x="254000" y="6434713"/>
            <a:ext cx="11684000" cy="291578"/>
          </a:xfrm>
          <a:prstGeom prst="rect">
            <a:avLst/>
          </a:prstGeom>
        </p:spPr>
      </p:pic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785C93D8-0F4C-49AF-9EB6-A85BC5B38FD5}"/>
              </a:ext>
            </a:extLst>
          </p:cNvPr>
          <p:cNvSpPr/>
          <p:nvPr/>
        </p:nvSpPr>
        <p:spPr>
          <a:xfrm>
            <a:off x="2072752" y="1206009"/>
            <a:ext cx="2593611" cy="733609"/>
          </a:xfrm>
          <a:prstGeom prst="roundRect">
            <a:avLst/>
          </a:prstGeom>
          <a:solidFill>
            <a:srgbClr val="009A4D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ar-AE" sz="10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خلق ثقافة محفزة</a:t>
            </a:r>
          </a:p>
        </p:txBody>
      </p:sp>
      <p:sp>
        <p:nvSpPr>
          <p:cNvPr id="36" name="Shape 1943">
            <a:extLst>
              <a:ext uri="{FF2B5EF4-FFF2-40B4-BE49-F238E27FC236}">
                <a16:creationId xmlns:a16="http://schemas.microsoft.com/office/drawing/2014/main" id="{3A22C249-B3E2-4847-B650-BDACB7F00956}"/>
              </a:ext>
            </a:extLst>
          </p:cNvPr>
          <p:cNvSpPr txBox="1">
            <a:spLocks/>
          </p:cNvSpPr>
          <p:nvPr/>
        </p:nvSpPr>
        <p:spPr>
          <a:xfrm>
            <a:off x="2633834" y="2294099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تعزيز الفخر والولاء والانتماء</a:t>
            </a:r>
          </a:p>
        </p:txBody>
      </p:sp>
      <p:cxnSp>
        <p:nvCxnSpPr>
          <p:cNvPr id="37" name="Straight Connector 47">
            <a:extLst>
              <a:ext uri="{FF2B5EF4-FFF2-40B4-BE49-F238E27FC236}">
                <a16:creationId xmlns:a16="http://schemas.microsoft.com/office/drawing/2014/main" id="{093611D1-2E97-4793-8D34-5C38D4F3411A}"/>
              </a:ext>
            </a:extLst>
          </p:cNvPr>
          <p:cNvCxnSpPr>
            <a:cxnSpLocks/>
          </p:cNvCxnSpPr>
          <p:nvPr/>
        </p:nvCxnSpPr>
        <p:spPr>
          <a:xfrm>
            <a:off x="3360934" y="1862155"/>
            <a:ext cx="1" cy="44299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Shape 1943">
            <a:extLst>
              <a:ext uri="{FF2B5EF4-FFF2-40B4-BE49-F238E27FC236}">
                <a16:creationId xmlns:a16="http://schemas.microsoft.com/office/drawing/2014/main" id="{A06D697F-8C48-4415-9702-B0992A4E1EB0}"/>
              </a:ext>
            </a:extLst>
          </p:cNvPr>
          <p:cNvSpPr txBox="1">
            <a:spLocks/>
          </p:cNvSpPr>
          <p:nvPr/>
        </p:nvSpPr>
        <p:spPr>
          <a:xfrm>
            <a:off x="4412480" y="4881041"/>
            <a:ext cx="642534" cy="4470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marL="0" marR="0" lvl="0" indent="0" algn="ctr" defTabSz="245255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  <a:endParaRPr kumimoji="0" lang="ar-SA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39" name="Shape 1943">
            <a:extLst>
              <a:ext uri="{FF2B5EF4-FFF2-40B4-BE49-F238E27FC236}">
                <a16:creationId xmlns:a16="http://schemas.microsoft.com/office/drawing/2014/main" id="{8DB85C3F-D52B-4EF4-B4D2-064B8EA2BFE1}"/>
              </a:ext>
            </a:extLst>
          </p:cNvPr>
          <p:cNvSpPr txBox="1">
            <a:spLocks/>
          </p:cNvSpPr>
          <p:nvPr/>
        </p:nvSpPr>
        <p:spPr>
          <a:xfrm>
            <a:off x="4412480" y="5503457"/>
            <a:ext cx="642534" cy="4470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95%</a:t>
            </a:r>
          </a:p>
        </p:txBody>
      </p:sp>
      <p:cxnSp>
        <p:nvCxnSpPr>
          <p:cNvPr id="40" name="Straight Connector 71">
            <a:extLst>
              <a:ext uri="{FF2B5EF4-FFF2-40B4-BE49-F238E27FC236}">
                <a16:creationId xmlns:a16="http://schemas.microsoft.com/office/drawing/2014/main" id="{3A9C8FA7-E737-4477-96C7-EC8C419AEE7D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4733747" y="5328067"/>
            <a:ext cx="0" cy="175390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1" name="Shape 1943">
            <a:hlinkClick r:id="" action="ppaction://noaction"/>
            <a:extLst>
              <a:ext uri="{FF2B5EF4-FFF2-40B4-BE49-F238E27FC236}">
                <a16:creationId xmlns:a16="http://schemas.microsoft.com/office/drawing/2014/main" id="{1E197CB2-21E3-41F9-B597-E28DDE311432}"/>
              </a:ext>
            </a:extLst>
          </p:cNvPr>
          <p:cNvSpPr txBox="1">
            <a:spLocks/>
          </p:cNvSpPr>
          <p:nvPr/>
        </p:nvSpPr>
        <p:spPr>
          <a:xfrm>
            <a:off x="2832340" y="3650558"/>
            <a:ext cx="945357" cy="983602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>
                <a:solidFill>
                  <a:schemeClr val="dk1"/>
                </a:solidFill>
              </a:rPr>
              <a:t>نسبة صرف المستحقات المالية للموظفين خلال 30 يوم</a:t>
            </a:r>
          </a:p>
        </p:txBody>
      </p:sp>
      <p:sp>
        <p:nvSpPr>
          <p:cNvPr id="42" name="Shape 1943">
            <a:extLst>
              <a:ext uri="{FF2B5EF4-FFF2-40B4-BE49-F238E27FC236}">
                <a16:creationId xmlns:a16="http://schemas.microsoft.com/office/drawing/2014/main" id="{A978477D-E786-47A1-B9A3-EB685D81DC41}"/>
              </a:ext>
            </a:extLst>
          </p:cNvPr>
          <p:cNvSpPr txBox="1">
            <a:spLocks/>
          </p:cNvSpPr>
          <p:nvPr/>
        </p:nvSpPr>
        <p:spPr>
          <a:xfrm>
            <a:off x="3048290" y="4852145"/>
            <a:ext cx="642534" cy="4470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</a:p>
        </p:txBody>
      </p:sp>
      <p:sp>
        <p:nvSpPr>
          <p:cNvPr id="43" name="Shape 1943">
            <a:extLst>
              <a:ext uri="{FF2B5EF4-FFF2-40B4-BE49-F238E27FC236}">
                <a16:creationId xmlns:a16="http://schemas.microsoft.com/office/drawing/2014/main" id="{BF0A3010-E034-4CE6-AE0D-D1068F0AE95D}"/>
              </a:ext>
            </a:extLst>
          </p:cNvPr>
          <p:cNvSpPr txBox="1">
            <a:spLocks/>
          </p:cNvSpPr>
          <p:nvPr/>
        </p:nvSpPr>
        <p:spPr>
          <a:xfrm>
            <a:off x="3059682" y="5461449"/>
            <a:ext cx="642534" cy="4316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pPr marL="0" marR="0" indent="0" algn="ctr" defTabSz="245255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95%</a:t>
            </a:r>
          </a:p>
        </p:txBody>
      </p:sp>
      <p:sp>
        <p:nvSpPr>
          <p:cNvPr id="44" name="Shape 1943">
            <a:extLst>
              <a:ext uri="{FF2B5EF4-FFF2-40B4-BE49-F238E27FC236}">
                <a16:creationId xmlns:a16="http://schemas.microsoft.com/office/drawing/2014/main" id="{D7B643BE-A16B-4453-B6B1-EBC1BBF84EB3}"/>
              </a:ext>
            </a:extLst>
          </p:cNvPr>
          <p:cNvSpPr txBox="1">
            <a:spLocks/>
          </p:cNvSpPr>
          <p:nvPr/>
        </p:nvSpPr>
        <p:spPr>
          <a:xfrm>
            <a:off x="1741381" y="4842436"/>
            <a:ext cx="642534" cy="4470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74.60 %</a:t>
            </a:r>
          </a:p>
        </p:txBody>
      </p:sp>
      <p:sp>
        <p:nvSpPr>
          <p:cNvPr id="45" name="Shape 1943">
            <a:extLst>
              <a:ext uri="{FF2B5EF4-FFF2-40B4-BE49-F238E27FC236}">
                <a16:creationId xmlns:a16="http://schemas.microsoft.com/office/drawing/2014/main" id="{BA03D7AE-A402-4BF7-8D29-8AD47AC43477}"/>
              </a:ext>
            </a:extLst>
          </p:cNvPr>
          <p:cNvSpPr txBox="1">
            <a:spLocks/>
          </p:cNvSpPr>
          <p:nvPr/>
        </p:nvSpPr>
        <p:spPr>
          <a:xfrm>
            <a:off x="1740773" y="5448636"/>
            <a:ext cx="642534" cy="44702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pPr marL="0" marR="0" indent="0" algn="ctr" defTabSz="245255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100 %</a:t>
            </a:r>
          </a:p>
        </p:txBody>
      </p:sp>
      <p:cxnSp>
        <p:nvCxnSpPr>
          <p:cNvPr id="46" name="Straight Connector 47">
            <a:extLst>
              <a:ext uri="{FF2B5EF4-FFF2-40B4-BE49-F238E27FC236}">
                <a16:creationId xmlns:a16="http://schemas.microsoft.com/office/drawing/2014/main" id="{086A1D25-9868-4AB8-A2FE-9E5E9C50F64A}"/>
              </a:ext>
            </a:extLst>
          </p:cNvPr>
          <p:cNvCxnSpPr>
            <a:cxnSpLocks/>
          </p:cNvCxnSpPr>
          <p:nvPr/>
        </p:nvCxnSpPr>
        <p:spPr>
          <a:xfrm>
            <a:off x="3331377" y="3464864"/>
            <a:ext cx="7052" cy="191716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7">
            <a:extLst>
              <a:ext uri="{FF2B5EF4-FFF2-40B4-BE49-F238E27FC236}">
                <a16:creationId xmlns:a16="http://schemas.microsoft.com/office/drawing/2014/main" id="{F011C3DD-7297-48C8-9AE6-9BA82A7C07F3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2053276" y="4639037"/>
            <a:ext cx="9372" cy="203399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7">
            <a:extLst>
              <a:ext uri="{FF2B5EF4-FFF2-40B4-BE49-F238E27FC236}">
                <a16:creationId xmlns:a16="http://schemas.microsoft.com/office/drawing/2014/main" id="{71B5F83F-1A39-463B-8E5A-699AE952D5F6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2062040" y="5289462"/>
            <a:ext cx="608" cy="159174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47">
            <a:extLst>
              <a:ext uri="{FF2B5EF4-FFF2-40B4-BE49-F238E27FC236}">
                <a16:creationId xmlns:a16="http://schemas.microsoft.com/office/drawing/2014/main" id="{61BBC528-0921-4DBD-8D11-BFEE3412EE36}"/>
              </a:ext>
            </a:extLst>
          </p:cNvPr>
          <p:cNvCxnSpPr>
            <a:cxnSpLocks/>
          </p:cNvCxnSpPr>
          <p:nvPr/>
        </p:nvCxnSpPr>
        <p:spPr>
          <a:xfrm>
            <a:off x="3361548" y="4604121"/>
            <a:ext cx="8009" cy="225509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47">
            <a:extLst>
              <a:ext uri="{FF2B5EF4-FFF2-40B4-BE49-F238E27FC236}">
                <a16:creationId xmlns:a16="http://schemas.microsoft.com/office/drawing/2014/main" id="{B98110E9-FE63-4AFA-9674-33068907221B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3380949" y="5304688"/>
            <a:ext cx="2" cy="15676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47">
            <a:extLst>
              <a:ext uri="{FF2B5EF4-FFF2-40B4-BE49-F238E27FC236}">
                <a16:creationId xmlns:a16="http://schemas.microsoft.com/office/drawing/2014/main" id="{8D33C765-207B-4EBE-B986-EC9EBD09D6B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733747" y="4652384"/>
            <a:ext cx="1" cy="228657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CA4B723-64F7-4A88-B036-48BF3526532E}"/>
              </a:ext>
            </a:extLst>
          </p:cNvPr>
          <p:cNvCxnSpPr>
            <a:stCxn id="36" idx="2"/>
          </p:cNvCxnSpPr>
          <p:nvPr/>
        </p:nvCxnSpPr>
        <p:spPr>
          <a:xfrm rot="16200000" flipH="1">
            <a:off x="3844938" y="2788539"/>
            <a:ext cx="375251" cy="140237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BEA4005-3F53-442E-9CB2-82A5E5F61D78}"/>
              </a:ext>
            </a:extLst>
          </p:cNvPr>
          <p:cNvCxnSpPr>
            <a:cxnSpLocks/>
          </p:cNvCxnSpPr>
          <p:nvPr/>
        </p:nvCxnSpPr>
        <p:spPr>
          <a:xfrm rot="5400000">
            <a:off x="2556289" y="2901978"/>
            <a:ext cx="357538" cy="11776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hape 1943">
            <a:hlinkClick r:id="" action="ppaction://noaction"/>
            <a:extLst>
              <a:ext uri="{FF2B5EF4-FFF2-40B4-BE49-F238E27FC236}">
                <a16:creationId xmlns:a16="http://schemas.microsoft.com/office/drawing/2014/main" id="{745934BC-DF7E-46DF-B8DD-0FA234395DCF}"/>
              </a:ext>
            </a:extLst>
          </p:cNvPr>
          <p:cNvSpPr txBox="1">
            <a:spLocks/>
          </p:cNvSpPr>
          <p:nvPr/>
        </p:nvSpPr>
        <p:spPr>
          <a:xfrm>
            <a:off x="4238896" y="3667013"/>
            <a:ext cx="948645" cy="975034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تطبيق ممارسات الإدارة التشاركية</a:t>
            </a:r>
          </a:p>
        </p:txBody>
      </p:sp>
      <p:sp>
        <p:nvSpPr>
          <p:cNvPr id="57" name="Shape 1943">
            <a:hlinkClick r:id="" action="ppaction://noaction"/>
            <a:extLst>
              <a:ext uri="{FF2B5EF4-FFF2-40B4-BE49-F238E27FC236}">
                <a16:creationId xmlns:a16="http://schemas.microsoft.com/office/drawing/2014/main" id="{153FF762-CA30-4EE3-830A-706BA2EA7047}"/>
              </a:ext>
            </a:extLst>
          </p:cNvPr>
          <p:cNvSpPr txBox="1">
            <a:spLocks/>
          </p:cNvSpPr>
          <p:nvPr/>
        </p:nvSpPr>
        <p:spPr>
          <a:xfrm>
            <a:off x="1600073" y="3650558"/>
            <a:ext cx="945357" cy="979400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endParaRPr lang="ar-SA" dirty="0">
              <a:solidFill>
                <a:schemeClr val="tx1"/>
              </a:solidFill>
            </a:endParaRPr>
          </a:p>
          <a:p>
            <a:r>
              <a:rPr lang="ar-SA" dirty="0">
                <a:solidFill>
                  <a:schemeClr val="tx1"/>
                </a:solidFill>
              </a:rPr>
              <a:t>نسبة الارتباط الوظيفي</a:t>
            </a:r>
          </a:p>
          <a:p>
            <a:r>
              <a:rPr lang="ar-SA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endParaRPr lang="ar-SA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946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F7F42A36-855B-4794-8188-A7FEF241D0B5}"/>
              </a:ext>
            </a:extLst>
          </p:cNvPr>
          <p:cNvSpPr/>
          <p:nvPr/>
        </p:nvSpPr>
        <p:spPr>
          <a:xfrm>
            <a:off x="98936" y="5638681"/>
            <a:ext cx="10246752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72D7F894-F74C-4C1B-96D0-5C3A922EE656}"/>
              </a:ext>
            </a:extLst>
          </p:cNvPr>
          <p:cNvSpPr/>
          <p:nvPr/>
        </p:nvSpPr>
        <p:spPr>
          <a:xfrm>
            <a:off x="99031" y="5019539"/>
            <a:ext cx="10232506" cy="2033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CD952E8D-72BB-4F54-842D-7175CCCA56F6}"/>
              </a:ext>
            </a:extLst>
          </p:cNvPr>
          <p:cNvSpPr/>
          <p:nvPr/>
        </p:nvSpPr>
        <p:spPr>
          <a:xfrm>
            <a:off x="99065" y="3964327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FE72EEB2-55DC-4809-8927-7A7A1CF07E3C}"/>
              </a:ext>
            </a:extLst>
          </p:cNvPr>
          <p:cNvSpPr/>
          <p:nvPr/>
        </p:nvSpPr>
        <p:spPr>
          <a:xfrm>
            <a:off x="99065" y="2708660"/>
            <a:ext cx="10227300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7D627A27-1401-4C96-800B-208DE8708827}"/>
              </a:ext>
            </a:extLst>
          </p:cNvPr>
          <p:cNvSpPr/>
          <p:nvPr/>
        </p:nvSpPr>
        <p:spPr>
          <a:xfrm>
            <a:off x="98937" y="1373488"/>
            <a:ext cx="10227429" cy="417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664BACC2-B75C-46F1-80AA-F458C6BA8BE4}"/>
              </a:ext>
            </a:extLst>
          </p:cNvPr>
          <p:cNvCxnSpPr>
            <a:stCxn id="16" idx="2"/>
            <a:endCxn id="25" idx="2"/>
          </p:cNvCxnSpPr>
          <p:nvPr/>
        </p:nvCxnSpPr>
        <p:spPr>
          <a:xfrm>
            <a:off x="11153731" y="2034929"/>
            <a:ext cx="1" cy="3910830"/>
          </a:xfrm>
          <a:prstGeom prst="line">
            <a:avLst/>
          </a:prstGeom>
          <a:ln w="12700" cap="flat" cmpd="sng" algn="ctr">
            <a:solidFill>
              <a:schemeClr val="bg1">
                <a:lumMod val="6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F8C38BDB-C8E0-4AF8-A666-1C7644E9BC8D}"/>
              </a:ext>
            </a:extLst>
          </p:cNvPr>
          <p:cNvSpPr/>
          <p:nvPr/>
        </p:nvSpPr>
        <p:spPr>
          <a:xfrm>
            <a:off x="10238361" y="1122364"/>
            <a:ext cx="1830739" cy="91256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الأهداف الاستراتيجية /الإدارة</a:t>
            </a:r>
            <a:endParaRPr kumimoji="0" lang="ar-AE" sz="10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E98678CE-0F0C-4B7A-B04C-122AFEF21921}"/>
              </a:ext>
            </a:extLst>
          </p:cNvPr>
          <p:cNvSpPr/>
          <p:nvPr/>
        </p:nvSpPr>
        <p:spPr>
          <a:xfrm>
            <a:off x="10230578" y="2424120"/>
            <a:ext cx="1830739" cy="895528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أهداف الإدارة</a:t>
            </a:r>
            <a:endParaRPr kumimoji="0" lang="ar-AE" sz="11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0" name="Rounded Rectangle 56">
            <a:extLst>
              <a:ext uri="{FF2B5EF4-FFF2-40B4-BE49-F238E27FC236}">
                <a16:creationId xmlns:a16="http://schemas.microsoft.com/office/drawing/2014/main" id="{AC5BAA0D-5798-4871-A8C2-08FECFFBC893}"/>
              </a:ext>
            </a:extLst>
          </p:cNvPr>
          <p:cNvSpPr/>
          <p:nvPr/>
        </p:nvSpPr>
        <p:spPr>
          <a:xfrm>
            <a:off x="10232435" y="3796071"/>
            <a:ext cx="1835728" cy="699000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مؤشر قياس الأداء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2" name="Rounded Rectangle 82">
            <a:extLst>
              <a:ext uri="{FF2B5EF4-FFF2-40B4-BE49-F238E27FC236}">
                <a16:creationId xmlns:a16="http://schemas.microsoft.com/office/drawing/2014/main" id="{AED7F5AB-8AD8-4654-81D3-F2821B9D3644}"/>
              </a:ext>
            </a:extLst>
          </p:cNvPr>
          <p:cNvSpPr/>
          <p:nvPr/>
        </p:nvSpPr>
        <p:spPr>
          <a:xfrm>
            <a:off x="10233372" y="4873307"/>
            <a:ext cx="1835728" cy="447026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خط الأساس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sp>
        <p:nvSpPr>
          <p:cNvPr id="25" name="Rounded Rectangle 93">
            <a:extLst>
              <a:ext uri="{FF2B5EF4-FFF2-40B4-BE49-F238E27FC236}">
                <a16:creationId xmlns:a16="http://schemas.microsoft.com/office/drawing/2014/main" id="{E497F1CE-4512-462A-9044-64F2B396567D}"/>
              </a:ext>
            </a:extLst>
          </p:cNvPr>
          <p:cNvSpPr/>
          <p:nvPr/>
        </p:nvSpPr>
        <p:spPr>
          <a:xfrm>
            <a:off x="10238362" y="5501028"/>
            <a:ext cx="1830739" cy="444731"/>
          </a:xfrm>
          <a:prstGeom prst="roundRect">
            <a:avLst/>
          </a:prstGeom>
          <a:solidFill>
            <a:srgbClr val="F7F7F7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 anchorCtr="0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المستهدف (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5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ea typeface="+mn-ea"/>
                <a:cs typeface="Frutiger LT Arabic 45 Light" panose="01000000000000000000" pitchFamily="2" charset="-78"/>
              </a:rPr>
              <a:t>202)</a:t>
            </a:r>
            <a:endParaRPr kumimoji="0" lang="ar-AE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Frutiger LT Arabic 45 Light" panose="01000000000000000000" pitchFamily="2" charset="-78"/>
              <a:ea typeface="+mn-ea"/>
              <a:cs typeface="Frutiger LT Arabic 45 Light" panose="01000000000000000000" pitchFamily="2" charset="-78"/>
            </a:endParaRPr>
          </a:p>
        </p:txBody>
      </p:sp>
      <p:pic>
        <p:nvPicPr>
          <p:cNvPr id="48" name="Picture 5" descr="Logo&#10;&#10;Description automatically generated">
            <a:extLst>
              <a:ext uri="{FF2B5EF4-FFF2-40B4-BE49-F238E27FC236}">
                <a16:creationId xmlns:a16="http://schemas.microsoft.com/office/drawing/2014/main" id="{4A06AC5F-0173-42C5-B655-B9FA9D9E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029" y="1157196"/>
            <a:ext cx="336656" cy="336656"/>
          </a:xfrm>
          <a:prstGeom prst="rect">
            <a:avLst/>
          </a:prstGeom>
        </p:spPr>
      </p:pic>
      <p:graphicFrame>
        <p:nvGraphicFramePr>
          <p:cNvPr id="49" name="Table 79">
            <a:extLst>
              <a:ext uri="{FF2B5EF4-FFF2-40B4-BE49-F238E27FC236}">
                <a16:creationId xmlns:a16="http://schemas.microsoft.com/office/drawing/2014/main" id="{F6A481EE-E31D-48B4-89B5-A54D4745C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621166"/>
              </p:ext>
            </p:extLst>
          </p:nvPr>
        </p:nvGraphicFramePr>
        <p:xfrm>
          <a:off x="4291560" y="-4315"/>
          <a:ext cx="7902524" cy="864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98524">
                  <a:extLst>
                    <a:ext uri="{9D8B030D-6E8A-4147-A177-3AD203B41FA5}">
                      <a16:colId xmlns:a16="http://schemas.microsoft.com/office/drawing/2014/main" val="27433199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12484745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9835668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72451511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87823315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الإدارة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عدد الاهداف المرتبطة بالاستراتيجية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عد</a:t>
                      </a:r>
                      <a:r>
                        <a:rPr lang="ar-SA" sz="11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Frutiger LT Arabic 45 Light" panose="01000000000000000000" pitchFamily="2" charset="-78"/>
                          <a:cs typeface="Frutiger LT Arabic 45 Light" panose="01000000000000000000" pitchFamily="2" charset="-78"/>
                        </a:rPr>
                        <a:t>د المستهدفات</a:t>
                      </a:r>
                      <a:endParaRPr lang="en-US" sz="1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Frutiger LT Arabic 45 Light" panose="01000000000000000000" pitchFamily="2" charset="-78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Frutiger LT Arabic 45 Light" panose="01000000000000000000" pitchFamily="2" charset="-78"/>
                          <a:ea typeface="+mn-ea"/>
                          <a:cs typeface="Frutiger LT Arabic 45 Light" panose="01000000000000000000" pitchFamily="2" charset="-78"/>
                        </a:rPr>
                        <a:t>عدد المشاريع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Frutiger LT Arabic 45 Light" panose="01000000000000000000" pitchFamily="2" charset="-78"/>
                        <a:ea typeface="+mn-ea"/>
                        <a:cs typeface="Frutiger LT Arabic 45 Light" panose="01000000000000000000" pitchFamily="2" charset="-78"/>
                      </a:endParaRPr>
                    </a:p>
                  </a:txBody>
                  <a:tcPr anchor="ctr">
                    <a:solidFill>
                      <a:srgbClr val="009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8372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51433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فرع تبوك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7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13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62316"/>
                  </a:ext>
                </a:extLst>
              </a:tr>
            </a:tbl>
          </a:graphicData>
        </a:graphic>
      </p:graphicFrame>
      <p:pic>
        <p:nvPicPr>
          <p:cNvPr id="15" name="صورة 14">
            <a:extLst>
              <a:ext uri="{FF2B5EF4-FFF2-40B4-BE49-F238E27FC236}">
                <a16:creationId xmlns:a16="http://schemas.microsoft.com/office/drawing/2014/main" id="{ABBA1BF0-0E57-C521-554E-8262436340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06" t="11690"/>
          <a:stretch/>
        </p:blipFill>
        <p:spPr>
          <a:xfrm flipV="1">
            <a:off x="254000" y="6434713"/>
            <a:ext cx="11684000" cy="291578"/>
          </a:xfrm>
          <a:prstGeom prst="rect">
            <a:avLst/>
          </a:prstGeom>
        </p:spPr>
      </p:pic>
      <p:sp>
        <p:nvSpPr>
          <p:cNvPr id="33" name="Shape 1943">
            <a:extLst>
              <a:ext uri="{FF2B5EF4-FFF2-40B4-BE49-F238E27FC236}">
                <a16:creationId xmlns:a16="http://schemas.microsoft.com/office/drawing/2014/main" id="{5029493F-DB2D-47AB-B727-00BF39A2B8E7}"/>
              </a:ext>
            </a:extLst>
          </p:cNvPr>
          <p:cNvSpPr txBox="1">
            <a:spLocks/>
          </p:cNvSpPr>
          <p:nvPr/>
        </p:nvSpPr>
        <p:spPr>
          <a:xfrm>
            <a:off x="6900854" y="2331559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التكامل مع المجتمع</a:t>
            </a:r>
          </a:p>
        </p:txBody>
      </p:sp>
      <p:sp>
        <p:nvSpPr>
          <p:cNvPr id="34" name="Shape 1943">
            <a:hlinkClick r:id="" action="ppaction://noaction"/>
            <a:extLst>
              <a:ext uri="{FF2B5EF4-FFF2-40B4-BE49-F238E27FC236}">
                <a16:creationId xmlns:a16="http://schemas.microsoft.com/office/drawing/2014/main" id="{F8678A7B-A1FB-4816-922D-9C79CAF8E87D}"/>
              </a:ext>
            </a:extLst>
          </p:cNvPr>
          <p:cNvSpPr txBox="1">
            <a:spLocks/>
          </p:cNvSpPr>
          <p:nvPr/>
        </p:nvSpPr>
        <p:spPr>
          <a:xfrm>
            <a:off x="7230277" y="3604666"/>
            <a:ext cx="945357" cy="941496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1225973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>
              <a:defRPr/>
            </a:pPr>
            <a:r>
              <a:rPr lang="ar-SA" dirty="0">
                <a:solidFill>
                  <a:schemeClr val="tx1"/>
                </a:solidFill>
              </a:rPr>
              <a:t>نسبة ساعات التشغيل للفرق الاسعافية المستجيبة للطوارئ من غير الهيئة</a:t>
            </a:r>
          </a:p>
        </p:txBody>
      </p:sp>
      <p:sp>
        <p:nvSpPr>
          <p:cNvPr id="35" name="Shape 1943">
            <a:extLst>
              <a:ext uri="{FF2B5EF4-FFF2-40B4-BE49-F238E27FC236}">
                <a16:creationId xmlns:a16="http://schemas.microsoft.com/office/drawing/2014/main" id="{7070E761-A6D0-4716-A32B-2F840BB9E3A8}"/>
              </a:ext>
            </a:extLst>
          </p:cNvPr>
          <p:cNvSpPr txBox="1">
            <a:spLocks/>
          </p:cNvSpPr>
          <p:nvPr/>
        </p:nvSpPr>
        <p:spPr>
          <a:xfrm>
            <a:off x="7360955" y="4843476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0</a:t>
            </a:r>
          </a:p>
        </p:txBody>
      </p:sp>
      <p:sp>
        <p:nvSpPr>
          <p:cNvPr id="36" name="Shape 1943">
            <a:extLst>
              <a:ext uri="{FF2B5EF4-FFF2-40B4-BE49-F238E27FC236}">
                <a16:creationId xmlns:a16="http://schemas.microsoft.com/office/drawing/2014/main" id="{20977854-43BF-4CB5-BA57-DAEC542EEB22}"/>
              </a:ext>
            </a:extLst>
          </p:cNvPr>
          <p:cNvSpPr txBox="1">
            <a:spLocks/>
          </p:cNvSpPr>
          <p:nvPr/>
        </p:nvSpPr>
        <p:spPr>
          <a:xfrm>
            <a:off x="7367799" y="5523998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5 %</a:t>
            </a:r>
          </a:p>
        </p:txBody>
      </p:sp>
      <p:sp>
        <p:nvSpPr>
          <p:cNvPr id="37" name="Shape 1943">
            <a:extLst>
              <a:ext uri="{FF2B5EF4-FFF2-40B4-BE49-F238E27FC236}">
                <a16:creationId xmlns:a16="http://schemas.microsoft.com/office/drawing/2014/main" id="{7FF31D78-8935-4776-8E7B-E8E0B7A4E2F1}"/>
              </a:ext>
            </a:extLst>
          </p:cNvPr>
          <p:cNvSpPr txBox="1">
            <a:spLocks/>
          </p:cNvSpPr>
          <p:nvPr/>
        </p:nvSpPr>
        <p:spPr>
          <a:xfrm>
            <a:off x="2786536" y="2337131"/>
            <a:ext cx="1395087" cy="1008000"/>
          </a:xfrm>
          <a:prstGeom prst="rect">
            <a:avLst/>
          </a:prstGeom>
          <a:solidFill>
            <a:srgbClr val="DA9A29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 defTabSz="2452497">
              <a:defRPr/>
            </a:pPr>
            <a:r>
              <a:rPr lang="ar-SA" sz="9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استدامة الأصول وسلامتها</a:t>
            </a:r>
          </a:p>
        </p:txBody>
      </p:sp>
      <p:sp>
        <p:nvSpPr>
          <p:cNvPr id="38" name="Shape 1943">
            <a:hlinkClick r:id="" action="ppaction://noaction"/>
            <a:extLst>
              <a:ext uri="{FF2B5EF4-FFF2-40B4-BE49-F238E27FC236}">
                <a16:creationId xmlns:a16="http://schemas.microsoft.com/office/drawing/2014/main" id="{CF47AA91-D00B-49FB-A9FC-EAB369F18303}"/>
              </a:ext>
            </a:extLst>
          </p:cNvPr>
          <p:cNvSpPr txBox="1">
            <a:spLocks/>
          </p:cNvSpPr>
          <p:nvPr/>
        </p:nvSpPr>
        <p:spPr>
          <a:xfrm>
            <a:off x="3009756" y="3613360"/>
            <a:ext cx="948645" cy="963629"/>
          </a:xfrm>
          <a:prstGeom prst="rect">
            <a:avLst/>
          </a:prstGeom>
          <a:solidFill>
            <a:srgbClr val="D6D1B8"/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algn="ctr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رفع امتثال مرافق الهيئة لإجراءات السلامة</a:t>
            </a:r>
          </a:p>
        </p:txBody>
      </p:sp>
      <p:sp>
        <p:nvSpPr>
          <p:cNvPr id="39" name="Shape 1943">
            <a:extLst>
              <a:ext uri="{FF2B5EF4-FFF2-40B4-BE49-F238E27FC236}">
                <a16:creationId xmlns:a16="http://schemas.microsoft.com/office/drawing/2014/main" id="{EEAC9BD5-C0EB-4756-A509-CB451F0DDE64}"/>
              </a:ext>
            </a:extLst>
          </p:cNvPr>
          <p:cNvSpPr txBox="1">
            <a:spLocks/>
          </p:cNvSpPr>
          <p:nvPr/>
        </p:nvSpPr>
        <p:spPr>
          <a:xfrm>
            <a:off x="3142078" y="4843476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lvl1pPr defTabSz="1225973" rtl="1">
              <a:lnSpc>
                <a:spcPct val="110000"/>
              </a:lnSpc>
              <a:defRPr sz="1100">
                <a:solidFill>
                  <a:srgbClr val="92713C"/>
                </a:solidFill>
              </a:defRPr>
            </a:lvl1pPr>
          </a:lstStyle>
          <a:p>
            <a:pPr lvl="0" algn="ctr" defTabSz="2452559">
              <a:defRPr/>
            </a:pPr>
            <a:r>
              <a:rPr lang="ar-SA" sz="800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5%</a:t>
            </a:r>
          </a:p>
        </p:txBody>
      </p:sp>
      <p:sp>
        <p:nvSpPr>
          <p:cNvPr id="40" name="Shape 1943">
            <a:extLst>
              <a:ext uri="{FF2B5EF4-FFF2-40B4-BE49-F238E27FC236}">
                <a16:creationId xmlns:a16="http://schemas.microsoft.com/office/drawing/2014/main" id="{8ABDBDF8-F30B-4B8C-9DD0-92AA586D2398}"/>
              </a:ext>
            </a:extLst>
          </p:cNvPr>
          <p:cNvSpPr txBox="1">
            <a:spLocks/>
          </p:cNvSpPr>
          <p:nvPr/>
        </p:nvSpPr>
        <p:spPr>
          <a:xfrm>
            <a:off x="3142078" y="5514627"/>
            <a:ext cx="684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prstDash val="sysDot"/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20" tIns="45720" rIns="45720" bIns="45720" anchor="ctr">
            <a:noAutofit/>
          </a:bodyPr>
          <a:lstStyle>
            <a:defPPr>
              <a:defRPr lang="en-US"/>
            </a:defPPr>
            <a:lvl1pPr marR="0" lvl="0" indent="0" algn="ctr" defTabSz="2452559" rtl="1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utiger LT Arabic 45 Light" panose="01000000000000000000" pitchFamily="2" charset="-78"/>
                <a:cs typeface="Frutiger LT Arabic 45 Light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b="1" dirty="0">
                <a:solidFill>
                  <a:schemeClr val="tx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35%</a:t>
            </a:r>
          </a:p>
        </p:txBody>
      </p:sp>
      <p:cxnSp>
        <p:nvCxnSpPr>
          <p:cNvPr id="41" name="Straight Connector 47">
            <a:extLst>
              <a:ext uri="{FF2B5EF4-FFF2-40B4-BE49-F238E27FC236}">
                <a16:creationId xmlns:a16="http://schemas.microsoft.com/office/drawing/2014/main" id="{D4EE9E0C-21C2-43F4-9279-2287F91ACF1E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3484079" y="3345131"/>
            <a:ext cx="1" cy="268229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7">
            <a:extLst>
              <a:ext uri="{FF2B5EF4-FFF2-40B4-BE49-F238E27FC236}">
                <a16:creationId xmlns:a16="http://schemas.microsoft.com/office/drawing/2014/main" id="{5D43A88C-5E54-40DA-BA6E-F2765BF9C23D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7702955" y="4546162"/>
            <a:ext cx="1" cy="297314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7">
            <a:extLst>
              <a:ext uri="{FF2B5EF4-FFF2-40B4-BE49-F238E27FC236}">
                <a16:creationId xmlns:a16="http://schemas.microsoft.com/office/drawing/2014/main" id="{D26C9B1C-78A1-46A1-B246-72C046888E2E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3484078" y="5275476"/>
            <a:ext cx="0" cy="239151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Connector 47">
            <a:extLst>
              <a:ext uri="{FF2B5EF4-FFF2-40B4-BE49-F238E27FC236}">
                <a16:creationId xmlns:a16="http://schemas.microsoft.com/office/drawing/2014/main" id="{76001E49-2B45-4B5A-B8C9-0159A97E98CC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7702955" y="5275476"/>
            <a:ext cx="6844" cy="248522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F91E9CAA-A225-4700-A663-36C0551B0135}"/>
              </a:ext>
            </a:extLst>
          </p:cNvPr>
          <p:cNvSpPr/>
          <p:nvPr/>
        </p:nvSpPr>
        <p:spPr>
          <a:xfrm>
            <a:off x="3958401" y="1127047"/>
            <a:ext cx="3271876" cy="733609"/>
          </a:xfrm>
          <a:prstGeom prst="roundRect">
            <a:avLst/>
          </a:prstGeom>
          <a:solidFill>
            <a:srgbClr val="C04E15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schemeClr val="bg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الادارة العامة للفرع</a:t>
            </a:r>
            <a:endParaRPr kumimoji="0" lang="ar-AE" sz="1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DF0F60F-FFD2-47FE-858A-D79A90B61DB1}"/>
              </a:ext>
            </a:extLst>
          </p:cNvPr>
          <p:cNvCxnSpPr>
            <a:cxnSpLocks/>
            <a:stCxn id="45" idx="2"/>
            <a:endCxn id="33" idx="0"/>
          </p:cNvCxnSpPr>
          <p:nvPr/>
        </p:nvCxnSpPr>
        <p:spPr>
          <a:xfrm rot="16200000" flipH="1">
            <a:off x="6360917" y="1094077"/>
            <a:ext cx="470903" cy="200405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8F1E09E-88F5-4CD2-8DD9-2EC54606F1DD}"/>
              </a:ext>
            </a:extLst>
          </p:cNvPr>
          <p:cNvCxnSpPr>
            <a:cxnSpLocks/>
            <a:stCxn id="45" idx="2"/>
            <a:endCxn id="37" idx="0"/>
          </p:cNvCxnSpPr>
          <p:nvPr/>
        </p:nvCxnSpPr>
        <p:spPr>
          <a:xfrm rot="5400000">
            <a:off x="4300973" y="1043764"/>
            <a:ext cx="476475" cy="211025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7">
            <a:extLst>
              <a:ext uri="{FF2B5EF4-FFF2-40B4-BE49-F238E27FC236}">
                <a16:creationId xmlns:a16="http://schemas.microsoft.com/office/drawing/2014/main" id="{B3FF9BB3-4C8E-4931-A744-B1227A1D34AF}"/>
              </a:ext>
            </a:extLst>
          </p:cNvPr>
          <p:cNvCxnSpPr>
            <a:cxnSpLocks/>
          </p:cNvCxnSpPr>
          <p:nvPr/>
        </p:nvCxnSpPr>
        <p:spPr>
          <a:xfrm flipH="1">
            <a:off x="7680823" y="3327255"/>
            <a:ext cx="1" cy="324549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47">
            <a:extLst>
              <a:ext uri="{FF2B5EF4-FFF2-40B4-BE49-F238E27FC236}">
                <a16:creationId xmlns:a16="http://schemas.microsoft.com/office/drawing/2014/main" id="{8F78668C-912D-4FAA-990F-1D01FF37D868}"/>
              </a:ext>
            </a:extLst>
          </p:cNvPr>
          <p:cNvCxnSpPr>
            <a:cxnSpLocks/>
          </p:cNvCxnSpPr>
          <p:nvPr/>
        </p:nvCxnSpPr>
        <p:spPr>
          <a:xfrm flipH="1">
            <a:off x="3460966" y="4593775"/>
            <a:ext cx="2" cy="241734"/>
          </a:xfrm>
          <a:prstGeom prst="line">
            <a:avLst/>
          </a:prstGeom>
          <a:ln>
            <a:solidFill>
              <a:srgbClr val="7F7F7F"/>
            </a:solidFill>
            <a:headEnd type="none" w="med" len="sm"/>
            <a:tailEnd type="triangle" w="sm" len="sm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60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15387" y="1009650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>
              <a:defRPr/>
            </a:pPr>
            <a:r>
              <a:rPr kumimoji="0" lang="ar-SA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مراحل الرحلة الاسعافية بالوسائل المختلفة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391582"/>
              </p:ext>
            </p:extLst>
          </p:nvPr>
        </p:nvGraphicFramePr>
        <p:xfrm>
          <a:off x="615387" y="1390650"/>
          <a:ext cx="10972800" cy="118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تخفيض الأزمنة الغير  ضرورية في مراحل الرحلة الإسعافية من مرحلة الانتظار في قائمة الترحيل حتى العودة للجاهزية مما يرفع مستوى الجاهزية ويخفض زمن الاستجابة</a:t>
                      </a:r>
                      <a:endParaRPr lang="en-US" sz="11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حسام الصالح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16500"/>
              </p:ext>
            </p:extLst>
          </p:nvPr>
        </p:nvGraphicFramePr>
        <p:xfrm>
          <a:off x="609602" y="2758912"/>
          <a:ext cx="10972798" cy="1871964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6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62290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301276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541630">
                <a:tc>
                  <a:txBody>
                    <a:bodyPr/>
                    <a:lstStyle/>
                    <a:p>
                      <a:pPr marL="0" marR="0" lvl="0" indent="0" algn="ctr" defTabSz="1225973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متوسط زمن استجابة الاسعاف للحوادث المرورية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10:45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10:30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10:15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10:00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001303"/>
                  </a:ext>
                </a:extLst>
              </a:tr>
              <a:tr h="66600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بلاغات الطوارئ التي يتم البدء في معالجتها من قبل الفرق الاسعافية خلال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8</a:t>
                      </a:r>
                      <a:r>
                        <a:rPr kumimoji="0" lang="ar-SA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 دقائق منذ وصول مكالمة البلاغ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40.25%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41.50%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42.75%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452559" rtl="1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44%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4539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813346"/>
          <a:ext cx="10972800" cy="103500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348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349862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349862">
                <a:tc>
                  <a:txBody>
                    <a:bodyPr/>
                    <a:lstStyle/>
                    <a:p>
                      <a:pPr lvl="0" algn="ctr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53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05883E81-8CE6-46AE-8448-E83EA3B78C49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marL="0" marR="0" lvl="0" indent="0" algn="ctr" defTabSz="1225973" rtl="1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متوسط زمن استجابة الإسعاف للحوادث المرورية 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BD2910D-BE01-4299-AA3C-09DB8867E2BC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مراحل الرحلة الاسعافية بالوسائل المختلفة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F331053-AFF3-44DC-AA89-88E2648D1A41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49E8BA6A-B9B0-45A4-943E-BEB1EBF83BF2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C4C53B2-AD6F-4E51-BE26-70F45A69D814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AB2492E-FAB4-46D9-AE8B-2F5C8746989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460FF86-91F8-4371-88D7-9B752A176ACA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10E8CB54-9B9C-4F64-82E3-3E9679EBC2DC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D7D87D13-38C3-489A-970A-C2A436FEF147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E1B13048-3224-4908-8802-A5FCF92DAAEE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A5389DC2-A610-4196-AA01-CA2AB5AEC54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27DF20-3E72-4572-A8CE-17FDEA8E36D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D9BB2371-4580-4FD2-9EEA-24DB73D8C3D0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5E66CCB-4908-4F0F-9D2D-32BB30B0520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DA4DF2B4-BC8A-4304-A06E-903D8E66D46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5CF99BC0-46FC-460F-8F7F-D2329045C3A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F9F1E2C2-28E3-41D0-BAD1-1EDD2C43375D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44872E9B-3FEF-4C8F-BEDF-83584B9E2F0A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D53158DB-3B0D-A7E9-7063-8E482293DF90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 rtl="1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متوسط زمن الاستجابة للحوادث المرورية من قبل الفرق الإسعافية للبلاغات التي يكون درجة خطورتها إيكو أو برافو أو دلتا وفقاً للمركز الوطني الإسعافي للقيادة والسيطرة"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B722E5D-CA2E-2EBB-7248-7736972F6801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5BC9FA06-CE4D-7DFB-AEC8-643CAAA746FA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9D92609-0265-19D3-91D5-1DAABEB24A5C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 rtl="1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مجموع الزمن المستغرق للاستجابة للحوادث المرورية الساخنة / عدد الحوادث المرورية الساخنة التي تم الاستجابة لها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A11B9BB7-5125-4BE8-6ED5-70A912A96BBA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23CFA3D3-2F88-022B-E604-A8B5AB5AC3DC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دقيقة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7B7CB986-F259-E376-653D-37F1598385A1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49869538-89FC-A4D8-2867-5DEB50F5FFD6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سلبي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" name="Table 58">
            <a:extLst>
              <a:ext uri="{FF2B5EF4-FFF2-40B4-BE49-F238E27FC236}">
                <a16:creationId xmlns:a16="http://schemas.microsoft.com/office/drawing/2014/main" id="{8DF6F201-1D26-92B7-6B6C-EC0F78F0D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488188"/>
              </p:ext>
            </p:extLst>
          </p:nvPr>
        </p:nvGraphicFramePr>
        <p:xfrm>
          <a:off x="386561" y="2972671"/>
          <a:ext cx="11418877" cy="70420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24468452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12:47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12:00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11:30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10:45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10:40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10:35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10:30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10:25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10:20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10:15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10:10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10:05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609364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5E6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10:00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67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3B4EB-B442-B1E0-5759-5E9C25D1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6AEBD4BD-8193-F53D-CD68-E50EBDF369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102E8609-F7CC-CE63-135B-C88D17A8B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DD7C6432-91B9-5C72-F24F-43DA94AAC87B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marL="0" marR="0" lvl="0" indent="0" algn="r" defTabSz="1225973" rtl="1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نسبة بلاغات الطوارئ التي يتم البدء في معالجتها من قبل الفرق الاسعافية خلال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8</a:t>
            </a: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 دقائق منذ وصول مكالمة البلاغ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56CC457B-D53F-E666-8A54-9DD48392BB7B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مراحل الرحلة الاسعافية بالوسائل المختلفة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642B52F-B6CB-B29B-7510-58753CD2A947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167F094E-D9E2-A1D2-06E0-4D63253E5D1D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74912CF9-2491-EE6B-6492-CE0D27AAD3DF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1BE208C-2EDA-36E6-A6FE-B2BBD5221DCE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D7046625-F13C-1A41-3890-52ED7BEF03F3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F70307AE-886A-31F0-ADFD-037EF7B76211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B6AAB4DB-C5D3-0771-DC48-FE67FAFB1112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7024434F-FAA3-1693-0C02-38976BA0388B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499DD0DD-23B7-BE0E-3C06-234797501D0F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FBBEFA62-E20D-4DA0-806F-6A0EA274DFAA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55FDD638-EFD1-7F1C-DE36-25AC857E1F75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7377D211-46D4-CB2A-B90E-02C211A21293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9A5C573A-FA9E-7497-2E59-E056DDF0C2D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11422C0A-5E5D-395D-F425-E6CA3B37D91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5E98F7BC-DC6B-9415-F548-D47819F357C2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34EFC125-B35B-E562-69EB-31F91302B728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3" name="Table 58">
            <a:extLst>
              <a:ext uri="{FF2B5EF4-FFF2-40B4-BE49-F238E27FC236}">
                <a16:creationId xmlns:a16="http://schemas.microsoft.com/office/drawing/2014/main" id="{22C1F7CA-2186-E4CE-B91E-A3C73C33A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965883"/>
              </p:ext>
            </p:extLst>
          </p:nvPr>
        </p:nvGraphicFramePr>
        <p:xfrm>
          <a:off x="386561" y="3082998"/>
          <a:ext cx="11418877" cy="70420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4261942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40.91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40.25%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40.25%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40.25%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40.25%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40.25%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41.50%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41.50%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41.50%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42.75%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42.75%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42.75%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6093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5E6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44%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04540230-20DE-59A6-06CE-D9A3EDA4B56B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 rtl="1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هذا المؤشر نسبة البلاغات الإسعافية الساخنة (إيكو وبرافو ودلتا) التي تستجيب لها الفرق الاسعافية خلال 8 دقائق وهو الزمن من استقبال المكالمة في مركز الترحيل الطبي حتى وصول الفرقة الاسعافية للمريض لجميع البلاغات الساخنة في كافة مناطق المملكة سنوياً"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69894A5-FCAB-5C2B-2B95-687A4C7AC089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06948069-83E1-871F-BD5E-7BEEE4123234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F9ABC3F8-D117-9FAF-2459-5E5F2AA05041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 rtl="1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عدد البلاغات الإسعافية الساخنة (ايكو وبرفو ودلتا) التي تستجيب لها الفرق الاسعافية خلال 8دقائق/اجمالي عدد البلاغات الإسعافية الساخنة (إيكو وبرافو ودلتا) التي تستجيب لها الفرق الاسعافية) *100"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155BD2BC-8C3D-8DAE-E1D6-6405EC894821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818FE038-C5CC-C292-A64D-5627EF8B164A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0D77534D-9E47-11F7-A987-7828795FB687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9E808D68-1664-81E5-3419-FDABE857ADBD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836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8A816-2B1A-FCCB-416B-0A6DBB15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9A7185F5-1A35-E352-83FC-4CBD049817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7FCE86AF-FB46-9773-76D9-0E4294E5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CBB6F3-3C7C-C40D-0D2F-65EC2CF5DD66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AC93FCF-81C5-C21D-6F0E-428432360280}"/>
              </a:ext>
            </a:extLst>
          </p:cNvPr>
          <p:cNvSpPr/>
          <p:nvPr/>
        </p:nvSpPr>
        <p:spPr>
          <a:xfrm>
            <a:off x="634579" y="1439612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BE0C3E-A118-82A0-378A-60A910B85BFC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>
              <a:defRPr/>
            </a:pPr>
            <a:r>
              <a:rPr kumimoji="0" lang="ar-SA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منهجية العمل الاسعافي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AA7F60F7-C6B0-C8E3-C40F-CB917828D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754633"/>
              </p:ext>
            </p:extLst>
          </p:nvPr>
        </p:nvGraphicFramePr>
        <p:xfrm>
          <a:off x="626272" y="2000872"/>
          <a:ext cx="10989414" cy="118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138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63138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63138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التزام الفروع بالسياسات والإجراءات والتنظيمات الخاصة بالعمل الإسعافي الميداني من بداية المناوبة وحتى انتهائها والإجراءات التشغيلية والفنية للعمليات الإسعافية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حسام الصالح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 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33F289-872C-F468-A4C8-84D46B630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041561"/>
              </p:ext>
            </p:extLst>
          </p:nvPr>
        </p:nvGraphicFramePr>
        <p:xfrm>
          <a:off x="626272" y="3429000"/>
          <a:ext cx="10972798" cy="965616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6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63600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17283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اسم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172839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التزام العمليات الإسعافية بالسياسات والضوابط الإسعافية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65%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70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75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80%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78171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DA8A21FC-475C-B329-6B36-052C41EC5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46152"/>
              </p:ext>
            </p:extLst>
          </p:nvPr>
        </p:nvGraphicFramePr>
        <p:xfrm>
          <a:off x="626272" y="4813346"/>
          <a:ext cx="10972800" cy="103500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348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349862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349862">
                <a:tc>
                  <a:txBody>
                    <a:bodyPr/>
                    <a:lstStyle/>
                    <a:p>
                      <a:pPr lvl="0" algn="ctr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74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3F80-70EF-A4C9-8F18-2466C2D4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9EF68D2C-0F67-1504-5AF4-7D47ED3126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92408A6E-A196-9DC8-095E-61300629B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154A8AFE-98EA-F053-C96A-C9200FE8F5E6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lang="ar-SA" sz="1400" b="1" dirty="0"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التزام العمليات الإسعافية بالسياسات والضوابط الإسعافية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A8E027B-F975-B821-BE6B-D1B5E7466618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تطوير وتحسين منهجية العمل الاسعافي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90C5B90F-88FB-66FF-674B-0A2646EE7CEB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BEEF6C0A-C5B6-93CD-05DA-D319DC622E3C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FDF9708-44C2-8242-8E9E-F0E87AF5B9F7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F108A7A8-1D8C-81E3-2F64-9666B726C264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8B856DEC-F5FB-472E-12D3-433F628CD489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DFCAC391-FFE1-A52F-30E9-4262E17C483B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3AA4E8C6-1D52-463A-22CD-BA13047D10E8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8188A8AB-85F0-BBBF-D4A1-1E77011759CD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4BC6B17B-94A9-1DAE-0157-4DE62C1F8440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C34C2337-36F8-6AC8-9EA2-F7F99E89A4FB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60D2C3CC-42DA-1869-AFFB-0819CCFAF537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0856A4A4-D13E-F6A2-E178-AF5E396A493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87EF3265-A136-F3EE-5D56-F5DC653C7C5D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1E9F9FF2-8085-0D2E-B489-B766E07C7A7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D038434B-6484-8AA8-95D7-352198F2A772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9C1D2530-280D-4C46-CE2A-ABB756F8D78A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08807B2A-37CA-8BA3-0793-A9A4DCFFDFAB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defTabSz="1225973">
              <a:lnSpc>
                <a:spcPct val="110000"/>
              </a:lnSpc>
              <a:defRPr/>
            </a:pPr>
            <a:r>
              <a:rPr lang="ar-SA" sz="100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هذا المؤشر مستوى الالتزام بالضوابط والسياسات المتعلقة بالعمل الإسعافي للعمليات الإسعافية والجهات المتفرعة منها (إدارة العمليات الإسعافية، إدارة القطاعات، القطاعات الإسعافية، الوحدات الإسعافية)</a:t>
            </a:r>
            <a:endParaRPr lang="ar-SA" sz="1000" dirty="0">
              <a:solidFill>
                <a:prstClr val="black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5F0EC0DA-9DC1-C7BE-8D69-BB8125A2794A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FAAB54BC-5AA4-B2DE-A623-E1421F974FF5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41E5C13D-F3D9-6228-93BF-EBEEC98797EC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عدد الضوابط</a:t>
            </a: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/السياسات الملتزم بها من قبل العمليات الإسعافية في فروع الهيئة ÷ اجمالي عدد الضوابط/السياسات المعتمدة والمنشورة للعمليات الإسعافية * 100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0A419BAF-CDBA-5767-98A8-BEF7A7F709D6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9D0ACF91-F412-0F48-BAA4-CD0DF29CA21C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A48151CD-32FD-6A27-A448-2A2006E41EEA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65D685A4-4FB7-24DD-39BD-F772F677786C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4" name="Table 58">
            <a:extLst>
              <a:ext uri="{FF2B5EF4-FFF2-40B4-BE49-F238E27FC236}">
                <a16:creationId xmlns:a16="http://schemas.microsoft.com/office/drawing/2014/main" id="{E1E57833-A611-41D9-8291-C4EF400C8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034435"/>
              </p:ext>
            </p:extLst>
          </p:nvPr>
        </p:nvGraphicFramePr>
        <p:xfrm>
          <a:off x="334587" y="2714329"/>
          <a:ext cx="11418877" cy="67372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24468452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0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65 %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609364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05E62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80%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05E62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27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7"/>
            <a:ext cx="11684000" cy="291579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4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207227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defTabSz="911432" rtl="0">
              <a:defRPr/>
            </a:pPr>
            <a:r>
              <a:rPr lang="ar-SA" sz="1400" dirty="0"/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26251" y="1467084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09">
              <a:lnSpc>
                <a:spcPct val="90000"/>
              </a:lnSpc>
              <a:spcBef>
                <a:spcPts val="900"/>
              </a:spcBef>
              <a:defRPr/>
            </a:pPr>
            <a:r>
              <a:rPr lang="ar-SA" sz="1400" b="1" dirty="0">
                <a:solidFill>
                  <a:prstClr val="white"/>
                </a:solidFill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lang="en-US" sz="1400" b="1" dirty="0">
              <a:solidFill>
                <a:prstClr val="white"/>
              </a:solidFill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1979115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defTabSz="911432">
              <a:defRPr/>
            </a:pPr>
            <a:r>
              <a:rPr lang="ar-SA" dirty="0"/>
              <a:t>رفع جودة الخدمة الطبية الإسعافية للإنعاش القلبي الرئوي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552772"/>
              </p:ext>
            </p:extLst>
          </p:nvPr>
        </p:nvGraphicFramePr>
        <p:xfrm>
          <a:off x="604499" y="2012580"/>
          <a:ext cx="10972800" cy="1185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رفع جودة الإنعاش القلبي الرئوي ( استعادة النبض ) لحالات توقف القلب والتنفس وتعزيز فرص استعادة النبض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حسام الصالح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 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96540"/>
              </p:ext>
            </p:extLst>
          </p:nvPr>
        </p:nvGraphicFramePr>
        <p:xfrm>
          <a:off x="604499" y="3302156"/>
          <a:ext cx="10972803" cy="1162104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7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61968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5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301008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301008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400" b="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 نسبة استعادة النبض بعد إجراء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CPR</a:t>
                      </a:r>
                    </a:p>
                    <a:p>
                      <a:pPr marL="0" algn="ctr" defTabSz="914400" rtl="0" eaLnBrk="1" latinLnBrk="0" hangingPunct="1"/>
                      <a:endParaRPr lang="ar-SA" sz="1100" b="1" kern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16%</a:t>
                      </a:r>
                    </a:p>
                  </a:txBody>
                  <a:tcPr marL="118128" marR="118128" marT="59064" marB="590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17%</a:t>
                      </a:r>
                    </a:p>
                  </a:txBody>
                  <a:tcPr marL="118128" marR="118128" marT="59064" marB="590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22%</a:t>
                      </a:r>
                    </a:p>
                  </a:txBody>
                  <a:tcPr marL="118128" marR="118128" marT="59064" marB="590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25</a:t>
                      </a:r>
                      <a:r>
                        <a:rPr lang="ar-SA" sz="1200" b="1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%</a:t>
                      </a:r>
                    </a:p>
                  </a:txBody>
                  <a:tcPr marL="118128" marR="118128" marT="59064" marB="59064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4830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99188"/>
              </p:ext>
            </p:extLst>
          </p:nvPr>
        </p:nvGraphicFramePr>
        <p:xfrm>
          <a:off x="587884" y="4840281"/>
          <a:ext cx="10972800" cy="1116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72465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5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kumimoji="0" lang="ar-S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kumimoji="0" lang="ar-S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59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9F59-E243-E4FC-CFCD-9EBAD75F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5D34D353-DB3D-C9A8-20AB-B0357C1EBE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CD1A877D-2B53-1152-4A2C-1AD1603EC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64F61B99-2CDD-49AF-8A5F-FAD926B14AC7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algn="r" defTabSz="1225943" rtl="1">
              <a:lnSpc>
                <a:spcPct val="11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استعادة النبض بعد إجراء </a:t>
            </a:r>
            <a:r>
              <a:rPr lang="en-US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CPR</a:t>
            </a:r>
            <a:endParaRPr lang="ar-SA" sz="1400" b="1" dirty="0">
              <a:solidFill>
                <a:srgbClr val="000000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E3E5226-C4FC-A0D4-44F4-1E4EC5D73D5D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 defTabSz="2452497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جودة الخدمة الطبية الإسعافية للإنعاش القلبي الرئوي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0F669A5E-0D72-2C16-D516-73B536CF885A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FA815EDF-5AE2-362D-3363-6D3B6D3DC48E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52083AF5-EAC2-0FA9-D4C8-AD5F12E5E51A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7DAD9A53-1FAD-9D94-4435-6D8D8522F186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1FD5E38C-A9FC-BD7D-B027-0F1932EA63ED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EF8594FA-37EA-4BE3-246A-7593AD7CFDE6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812333C5-0E19-08FF-39A5-AFA563C378E6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FF285131-56EA-9E8A-B3EF-3094D6F4DD55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9F3FE3FD-9CD8-ECF3-5AFE-95C0A2FF2A4A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C0DAACF3-08ED-00CD-50FA-742D1759639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9E1F53A9-D25F-5EF1-D501-78B2C648611B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44C9D602-5AA6-F171-6BEA-3DD4FD1E0A48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3E06C592-09C5-99AA-BEAD-3391A26FF2DA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B073776D-AF36-2DD5-F43D-AACE24CCFC27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240D78C9-CB63-7752-AE10-C61985339422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5A48B5F4-FD14-0227-06DB-043940CBD772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3" name="Table 58">
            <a:extLst>
              <a:ext uri="{FF2B5EF4-FFF2-40B4-BE49-F238E27FC236}">
                <a16:creationId xmlns:a16="http://schemas.microsoft.com/office/drawing/2014/main" id="{B1C6B600-8BB5-5659-7402-455B1A619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575605"/>
              </p:ext>
            </p:extLst>
          </p:nvPr>
        </p:nvGraphicFramePr>
        <p:xfrm>
          <a:off x="355031" y="3177191"/>
          <a:ext cx="11418877" cy="747996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0947292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302988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12%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24%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1609324">
                        <a:defRPr/>
                      </a:pPr>
                      <a:r>
                        <a:rPr lang="en-US" sz="1100" b="1" dirty="0">
                          <a:solidFill>
                            <a:srgbClr val="105E62">
                              <a:lumMod val="50000"/>
                            </a:srgbClr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25%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6DE3CF3D-5F6F-0813-35CD-5DC4256FBF28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 defTabSz="1225943" rtl="1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المؤشر نسبة الحالات التي تم فيها استعادة النبض حسب عودة الدورة الدموية  التلقائية </a:t>
            </a:r>
            <a:r>
              <a:rPr lang="en-US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ROSC</a:t>
            </a:r>
            <a:endParaRPr lang="ar-SA" sz="1000" dirty="0">
              <a:solidFill>
                <a:prstClr val="black"/>
              </a:solidFill>
              <a:latin typeface="Frutiger LT Arabic 55 Roman" panose="01000000000000000000" pitchFamily="2" charset="-78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C50E3AB0-F016-4970-E7AE-41341CBB30B9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26C16A96-B087-7876-5316-013D9EAAFB6C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7AF51365-FAFC-7B77-2065-4F18BAF1485F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 defTabSz="1609324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إجمالي عدد الحالات التي يتم فيها استعادة النبض ÷ إجمالي عدد حالات توقف القلب والتنفس * 100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1CB39CAE-484E-E5A8-EB9D-E234F80D1F30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9733AF65-89F4-BAE4-39D0-F6DD25D1F05B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A2720BED-F584-98E3-992A-CF4DFBCFC99B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E1808E5B-ADAD-CD34-97AE-A9F1E297E797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42594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09599" y="1390552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رفع جاهزية الخدمات الهندسية وسلاسل الامداد 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06868"/>
              </p:ext>
            </p:extLst>
          </p:nvPr>
        </p:nvGraphicFramePr>
        <p:xfrm>
          <a:off x="609601" y="1849333"/>
          <a:ext cx="10972800" cy="117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يهدف الى تحسين استمرارية الاعمال وعدم الانقطاع عن الخدمة بسبب اعطال  بالمركبات الاسعافية او الأجهزة الطبية وتوفير الصيانة او البديل اللازم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ماجد محمد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/>
        </p:nvGraphicFramePr>
        <p:xfrm>
          <a:off x="609601" y="3090620"/>
          <a:ext cx="10972798" cy="1632384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6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63600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20227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325164">
                <a:tc>
                  <a:txBody>
                    <a:bodyPr/>
                    <a:lstStyle/>
                    <a:p>
                      <a:pPr algn="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نسبة زمن خروج الوحدة الإسعافية عن الخدمة بسبب تعطل او نقص التجهيزات الطبية الاساسية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4830"/>
                  </a:ext>
                </a:extLst>
              </a:tr>
              <a:tr h="325164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ar-SA" sz="1200" b="0" i="0" u="none" strike="noStrike" kern="1200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زمن خروج الوحدة الإسعافية عن الخدمة بسبب تعطل المركبات الاسعافية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4539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582731" y="4935446"/>
          <a:ext cx="10972798" cy="1063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8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1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348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404528"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69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5F6A-EEFD-E75A-B4CE-7403A8B8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CBFC7648-4C72-2654-DD0D-40E4C2C87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82BF530B-6D8B-E947-F0C9-5CFC261DC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7091694-A9C3-FD13-BAB8-99DB6F68D402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2E49C95A-EDD7-263C-AF5C-A21B78B40268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006A5071-0E49-BDF0-4BAF-CD94675A934B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33603276-F3D5-588F-C09B-D48260A51D47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4B37F908-C431-089C-5DFE-953CF64BE774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3B42B20F-256B-0934-C7FA-1D2F559D92D8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DFC8DA32-FE79-C659-405B-C3909A50CF99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C657550C-A337-6829-EF66-281560564EE2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C8D18BD3-222E-3477-CDC2-4C53E196D178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949E6599-E543-CF11-87D9-0F9878FF695F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50CD986B-1FBD-4BEA-8E9C-5282161924B0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8485F9D6-AFD7-2C91-D20B-71DDE722BFC3}"/>
              </a:ext>
            </a:extLst>
          </p:cNvPr>
          <p:cNvSpPr txBox="1"/>
          <p:nvPr/>
        </p:nvSpPr>
        <p:spPr>
          <a:xfrm>
            <a:off x="9838441" y="26566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439F75AA-A7E6-EBA7-CE96-887ED46F5B03}"/>
              </a:ext>
            </a:extLst>
          </p:cNvPr>
          <p:cNvSpPr/>
          <p:nvPr/>
        </p:nvSpPr>
        <p:spPr>
          <a:xfrm>
            <a:off x="8140472" y="2539668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3" name="Rectangle: Rounded Corners 38">
            <a:extLst>
              <a:ext uri="{FF2B5EF4-FFF2-40B4-BE49-F238E27FC236}">
                <a16:creationId xmlns:a16="http://schemas.microsoft.com/office/drawing/2014/main" id="{FF840E13-5DD4-4CBE-811E-B16E3BF021A9}"/>
              </a:ext>
            </a:extLst>
          </p:cNvPr>
          <p:cNvSpPr>
            <a:spLocks/>
          </p:cNvSpPr>
          <p:nvPr/>
        </p:nvSpPr>
        <p:spPr>
          <a:xfrm>
            <a:off x="4749004" y="1323985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r" defTabSz="1225973" rtl="1">
              <a:lnSpc>
                <a:spcPct val="11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زمن خروج الوحدة الإسعافية عن الخدمة بسبب تعطل او نقص التجهيزات الطبية الاساسية</a:t>
            </a:r>
          </a:p>
        </p:txBody>
      </p:sp>
      <p:sp>
        <p:nvSpPr>
          <p:cNvPr id="44" name="Rectangle: Rounded Corners 38">
            <a:extLst>
              <a:ext uri="{FF2B5EF4-FFF2-40B4-BE49-F238E27FC236}">
                <a16:creationId xmlns:a16="http://schemas.microsoft.com/office/drawing/2014/main" id="{E4BA7DE8-8445-4A3B-ABE6-2786A99CFDB6}"/>
              </a:ext>
            </a:extLst>
          </p:cNvPr>
          <p:cNvSpPr>
            <a:spLocks/>
          </p:cNvSpPr>
          <p:nvPr/>
        </p:nvSpPr>
        <p:spPr>
          <a:xfrm>
            <a:off x="6096000" y="702143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جاهزية الخدمات الهندسية وسلاسل الامداد </a:t>
            </a:r>
          </a:p>
        </p:txBody>
      </p:sp>
      <p:sp>
        <p:nvSpPr>
          <p:cNvPr id="45" name="Rectangle: Rounded Corners 38">
            <a:extLst>
              <a:ext uri="{FF2B5EF4-FFF2-40B4-BE49-F238E27FC236}">
                <a16:creationId xmlns:a16="http://schemas.microsoft.com/office/drawing/2014/main" id="{12A4F0DF-3CC0-4C60-846B-E7067B5B991A}"/>
              </a:ext>
            </a:extLst>
          </p:cNvPr>
          <p:cNvSpPr>
            <a:spLocks/>
          </p:cNvSpPr>
          <p:nvPr/>
        </p:nvSpPr>
        <p:spPr>
          <a:xfrm>
            <a:off x="10861394" y="1321899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6" name="Rectangle: Rounded Corners 38">
            <a:extLst>
              <a:ext uri="{FF2B5EF4-FFF2-40B4-BE49-F238E27FC236}">
                <a16:creationId xmlns:a16="http://schemas.microsoft.com/office/drawing/2014/main" id="{D2E05C5B-DB66-4E0C-9386-710F4B5CC14C}"/>
              </a:ext>
            </a:extLst>
          </p:cNvPr>
          <p:cNvSpPr>
            <a:spLocks/>
          </p:cNvSpPr>
          <p:nvPr/>
        </p:nvSpPr>
        <p:spPr>
          <a:xfrm>
            <a:off x="10829864" y="704427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7" name="Rectangle: Rounded Corners 38">
            <a:extLst>
              <a:ext uri="{FF2B5EF4-FFF2-40B4-BE49-F238E27FC236}">
                <a16:creationId xmlns:a16="http://schemas.microsoft.com/office/drawing/2014/main" id="{9D17B607-BE64-47DE-B392-EAB383F8F544}"/>
              </a:ext>
            </a:extLst>
          </p:cNvPr>
          <p:cNvSpPr>
            <a:spLocks/>
          </p:cNvSpPr>
          <p:nvPr/>
        </p:nvSpPr>
        <p:spPr>
          <a:xfrm>
            <a:off x="527995" y="698521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8" name="Rectangle: Rounded Corners 38">
            <a:extLst>
              <a:ext uri="{FF2B5EF4-FFF2-40B4-BE49-F238E27FC236}">
                <a16:creationId xmlns:a16="http://schemas.microsoft.com/office/drawing/2014/main" id="{A37BF3E5-6BEF-463C-9D29-91B2CCE6C0AD}"/>
              </a:ext>
            </a:extLst>
          </p:cNvPr>
          <p:cNvSpPr>
            <a:spLocks/>
          </p:cNvSpPr>
          <p:nvPr/>
        </p:nvSpPr>
        <p:spPr>
          <a:xfrm>
            <a:off x="4749004" y="700805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9" name="Rectangle: Rounded Corners 38">
            <a:extLst>
              <a:ext uri="{FF2B5EF4-FFF2-40B4-BE49-F238E27FC236}">
                <a16:creationId xmlns:a16="http://schemas.microsoft.com/office/drawing/2014/main" id="{C3EF0118-E4DA-4EFA-97BC-AFC8C816A917}"/>
              </a:ext>
            </a:extLst>
          </p:cNvPr>
          <p:cNvSpPr>
            <a:spLocks/>
          </p:cNvSpPr>
          <p:nvPr/>
        </p:nvSpPr>
        <p:spPr>
          <a:xfrm>
            <a:off x="4749004" y="1930299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>
              <a:defRPr/>
            </a:pPr>
            <a:r>
              <a:rPr lang="ar-SA" sz="1000" dirty="0">
                <a:solidFill>
                  <a:srgbClr val="000000"/>
                </a:solidFill>
                <a:latin typeface="Arial"/>
                <a:cs typeface="Frutiger LT Arabic 55 Roman" panose="01000000000000000000" pitchFamily="2" charset="-78"/>
              </a:rPr>
              <a:t>مؤشر يقيس نسبة تعطل التجهيزات الطبية الاساسية للوحدة الاسعافية وضمان عدم خروج الوحدة الاسعافية عن الخدمة بسبب التجهيز الطبي الأساسي التي تتجاوز ساعة</a:t>
            </a:r>
          </a:p>
        </p:txBody>
      </p:sp>
      <p:sp>
        <p:nvSpPr>
          <p:cNvPr id="50" name="Rectangle: Rounded Corners 38">
            <a:extLst>
              <a:ext uri="{FF2B5EF4-FFF2-40B4-BE49-F238E27FC236}">
                <a16:creationId xmlns:a16="http://schemas.microsoft.com/office/drawing/2014/main" id="{A0922CBF-1A39-48BD-8C81-0519962BF07C}"/>
              </a:ext>
            </a:extLst>
          </p:cNvPr>
          <p:cNvSpPr>
            <a:spLocks/>
          </p:cNvSpPr>
          <p:nvPr/>
        </p:nvSpPr>
        <p:spPr>
          <a:xfrm>
            <a:off x="10861394" y="1930299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1" name="Rectangle: Rounded Corners 38">
            <a:extLst>
              <a:ext uri="{FF2B5EF4-FFF2-40B4-BE49-F238E27FC236}">
                <a16:creationId xmlns:a16="http://schemas.microsoft.com/office/drawing/2014/main" id="{9CDB8669-1DFB-46EE-9F0B-AAE31D6E8EC0}"/>
              </a:ext>
            </a:extLst>
          </p:cNvPr>
          <p:cNvSpPr>
            <a:spLocks/>
          </p:cNvSpPr>
          <p:nvPr/>
        </p:nvSpPr>
        <p:spPr>
          <a:xfrm>
            <a:off x="3775888" y="1321899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2" name="Rectangle: Rounded Corners 38">
            <a:extLst>
              <a:ext uri="{FF2B5EF4-FFF2-40B4-BE49-F238E27FC236}">
                <a16:creationId xmlns:a16="http://schemas.microsoft.com/office/drawing/2014/main" id="{0D49C72A-06B8-4E1A-B85C-A5CBC1B833AB}"/>
              </a:ext>
            </a:extLst>
          </p:cNvPr>
          <p:cNvSpPr>
            <a:spLocks/>
          </p:cNvSpPr>
          <p:nvPr/>
        </p:nvSpPr>
        <p:spPr>
          <a:xfrm>
            <a:off x="527994" y="1312564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(عدد الوحدات الاسعافية الخارجة عن الخدمة بسبب تعطل او نقص التجهيزات الطبية الاساسية التي تتجاوز ساعة</a:t>
            </a:r>
            <a:r>
              <a:rPr lang="en-US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 </a:t>
            </a: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 لمعالجتها / اجمالي الوحدات الاسعافية العاملة )* 100</a:t>
            </a:r>
          </a:p>
        </p:txBody>
      </p:sp>
      <p:sp>
        <p:nvSpPr>
          <p:cNvPr id="53" name="Rectangle: Rounded Corners 38">
            <a:extLst>
              <a:ext uri="{FF2B5EF4-FFF2-40B4-BE49-F238E27FC236}">
                <a16:creationId xmlns:a16="http://schemas.microsoft.com/office/drawing/2014/main" id="{51BD12CC-55AF-49F7-BBBE-63C6CD6551EF}"/>
              </a:ext>
            </a:extLst>
          </p:cNvPr>
          <p:cNvSpPr>
            <a:spLocks/>
          </p:cNvSpPr>
          <p:nvPr/>
        </p:nvSpPr>
        <p:spPr>
          <a:xfrm>
            <a:off x="3682719" y="1993617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4" name="Rectangle: Rounded Corners 38">
            <a:extLst>
              <a:ext uri="{FF2B5EF4-FFF2-40B4-BE49-F238E27FC236}">
                <a16:creationId xmlns:a16="http://schemas.microsoft.com/office/drawing/2014/main" id="{498548D6-E1CA-4E5B-B05B-4B6D3E668FCE}"/>
              </a:ext>
            </a:extLst>
          </p:cNvPr>
          <p:cNvSpPr>
            <a:spLocks/>
          </p:cNvSpPr>
          <p:nvPr/>
        </p:nvSpPr>
        <p:spPr>
          <a:xfrm>
            <a:off x="2635180" y="1993617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5" name="Rectangle: Rounded Corners 38">
            <a:extLst>
              <a:ext uri="{FF2B5EF4-FFF2-40B4-BE49-F238E27FC236}">
                <a16:creationId xmlns:a16="http://schemas.microsoft.com/office/drawing/2014/main" id="{0F53133E-6D6B-4909-B537-672F8403C7F0}"/>
              </a:ext>
            </a:extLst>
          </p:cNvPr>
          <p:cNvSpPr>
            <a:spLocks/>
          </p:cNvSpPr>
          <p:nvPr/>
        </p:nvSpPr>
        <p:spPr>
          <a:xfrm>
            <a:off x="1575533" y="1993617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6" name="Rectangle: Rounded Corners 38">
            <a:extLst>
              <a:ext uri="{FF2B5EF4-FFF2-40B4-BE49-F238E27FC236}">
                <a16:creationId xmlns:a16="http://schemas.microsoft.com/office/drawing/2014/main" id="{58CFE20D-06E7-4724-9A2A-4663BB9A9668}"/>
              </a:ext>
            </a:extLst>
          </p:cNvPr>
          <p:cNvSpPr>
            <a:spLocks/>
          </p:cNvSpPr>
          <p:nvPr/>
        </p:nvSpPr>
        <p:spPr>
          <a:xfrm>
            <a:off x="527994" y="1968713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سلبي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57" name="Table 58">
            <a:extLst>
              <a:ext uri="{FF2B5EF4-FFF2-40B4-BE49-F238E27FC236}">
                <a16:creationId xmlns:a16="http://schemas.microsoft.com/office/drawing/2014/main" id="{15939D24-5611-4450-9479-44FC7DA54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27182"/>
              </p:ext>
            </p:extLst>
          </p:nvPr>
        </p:nvGraphicFramePr>
        <p:xfrm>
          <a:off x="356917" y="2793803"/>
          <a:ext cx="11418877" cy="68896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0947292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5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1609324">
                        <a:defRPr/>
                      </a:pPr>
                      <a:r>
                        <a:rPr lang="ar-SA" sz="1100" b="1" dirty="0">
                          <a:solidFill>
                            <a:srgbClr val="105E62">
                              <a:lumMod val="50000"/>
                            </a:srgbClr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0%</a:t>
                      </a:r>
                      <a:endParaRPr lang="en-US" sz="1100" b="1" dirty="0">
                        <a:solidFill>
                          <a:srgbClr val="105E62">
                            <a:lumMod val="50000"/>
                          </a:srgbClr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62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2AE7-79E9-D273-5202-558918F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32A17A6D-B3D0-8D20-5ED6-33257F6E35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24501CF0-BE14-F964-1C86-57A8AB5F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13CBB034-A5A3-6362-7256-82DCE183C28C}"/>
              </a:ext>
            </a:extLst>
          </p:cNvPr>
          <p:cNvSpPr>
            <a:spLocks/>
          </p:cNvSpPr>
          <p:nvPr/>
        </p:nvSpPr>
        <p:spPr>
          <a:xfrm>
            <a:off x="4691404" y="1230944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r" defTabSz="1225973" rtl="1">
              <a:lnSpc>
                <a:spcPct val="11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زمن خروج الوحدة الاسعافية عن الخدمة بسبب تعطل المركبات الاسعافية 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D0DE35AC-9DEB-9A30-FDCC-7C72942E51A6}"/>
              </a:ext>
            </a:extLst>
          </p:cNvPr>
          <p:cNvSpPr>
            <a:spLocks/>
          </p:cNvSpPr>
          <p:nvPr/>
        </p:nvSpPr>
        <p:spPr>
          <a:xfrm>
            <a:off x="6038400" y="609102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جاهزية الخدمات الهندسية وسلاسل الامداد 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1B08BD1E-F350-8B07-DDC1-04565FD5265A}"/>
              </a:ext>
            </a:extLst>
          </p:cNvPr>
          <p:cNvSpPr>
            <a:spLocks/>
          </p:cNvSpPr>
          <p:nvPr/>
        </p:nvSpPr>
        <p:spPr>
          <a:xfrm>
            <a:off x="10803794" y="122885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683D9F1E-A062-040A-710E-B9F431395DE7}"/>
              </a:ext>
            </a:extLst>
          </p:cNvPr>
          <p:cNvSpPr>
            <a:spLocks/>
          </p:cNvSpPr>
          <p:nvPr/>
        </p:nvSpPr>
        <p:spPr>
          <a:xfrm>
            <a:off x="10772264" y="611386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248D327-BB0A-7769-F9AD-4AF67D1BC875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2F7285B1-A0AF-3866-EA19-8CE899CC37E2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9AC668F5-8A62-2610-B5FA-A334766A9D42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84A0F80F-6B44-3A0E-C96B-8A921AE3AF77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4B3B8EE9-2476-07C4-D8AD-F20E59EFF86D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019B17BE-029D-8363-A918-F0800B933BFF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F0A5B590-142E-8165-7625-0D5A7DC19D60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72BF5C75-C439-9C95-3892-60CEE15C85DB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04EFB371-7387-B22C-7140-ECA53B5485A9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46680BEF-4D2C-72DC-0602-2E85CEDC111E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5F582338-927E-38B0-81AD-5971C3C938AD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EB5C6F5F-45EB-761A-A7D1-BB07C179D69C}"/>
              </a:ext>
            </a:extLst>
          </p:cNvPr>
          <p:cNvSpPr txBox="1"/>
          <p:nvPr/>
        </p:nvSpPr>
        <p:spPr>
          <a:xfrm>
            <a:off x="9965661" y="187506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409307CD-8744-BB26-9CA0-53001E9D684B}"/>
              </a:ext>
            </a:extLst>
          </p:cNvPr>
          <p:cNvSpPr>
            <a:spLocks/>
          </p:cNvSpPr>
          <p:nvPr/>
        </p:nvSpPr>
        <p:spPr>
          <a:xfrm>
            <a:off x="470395" y="605480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D823652C-4EFD-6C94-8CB3-4FF27742AD36}"/>
              </a:ext>
            </a:extLst>
          </p:cNvPr>
          <p:cNvSpPr>
            <a:spLocks/>
          </p:cNvSpPr>
          <p:nvPr/>
        </p:nvSpPr>
        <p:spPr>
          <a:xfrm>
            <a:off x="4691404" y="607764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6AB139DA-741A-D04D-8B96-9280BA2E0B59}"/>
              </a:ext>
            </a:extLst>
          </p:cNvPr>
          <p:cNvSpPr>
            <a:spLocks/>
          </p:cNvSpPr>
          <p:nvPr/>
        </p:nvSpPr>
        <p:spPr>
          <a:xfrm>
            <a:off x="4691404" y="1837258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>
              <a:defRPr/>
            </a:pPr>
            <a:r>
              <a:rPr lang="ar-SA" sz="1000" dirty="0">
                <a:solidFill>
                  <a:srgbClr val="000000"/>
                </a:solidFill>
                <a:latin typeface="Arial"/>
                <a:cs typeface="Frutiger LT Arabic 55 Roman" panose="01000000000000000000" pitchFamily="2" charset="-78"/>
              </a:rPr>
              <a:t>جاهزية الوحدة الاسعافية خلال ساعتين من وقت الإبلاغ عن تعطل الوحدة الاسعافية حتى وقت معالجة البلاغ وحل العطل عن طريق  إرسال صيانة متنقلة أو إرسال مركبة إسعافية بديلة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94854131-FB68-DAEF-40AD-D28B40A64016}"/>
              </a:ext>
            </a:extLst>
          </p:cNvPr>
          <p:cNvSpPr>
            <a:spLocks/>
          </p:cNvSpPr>
          <p:nvPr/>
        </p:nvSpPr>
        <p:spPr>
          <a:xfrm>
            <a:off x="10803794" y="183725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3ED23820-B326-F20C-B1C4-389BEEA6C42F}"/>
              </a:ext>
            </a:extLst>
          </p:cNvPr>
          <p:cNvSpPr>
            <a:spLocks/>
          </p:cNvSpPr>
          <p:nvPr/>
        </p:nvSpPr>
        <p:spPr>
          <a:xfrm>
            <a:off x="3718288" y="1228858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F95B0E3F-C084-830D-C663-E4BDCDA85A61}"/>
              </a:ext>
            </a:extLst>
          </p:cNvPr>
          <p:cNvSpPr>
            <a:spLocks/>
          </p:cNvSpPr>
          <p:nvPr/>
        </p:nvSpPr>
        <p:spPr>
          <a:xfrm>
            <a:off x="470394" y="1219523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(عدد الوحدات الاسعافية الخارجة عن الخدمة بسبب تعطل المركبات التي تتجاوز ساعتين  لمعالجتها / اجمالي الوحدات الاسعافية العاملة)*100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76E424A2-6272-4BA2-4CF7-10F0FE0BBC5A}"/>
              </a:ext>
            </a:extLst>
          </p:cNvPr>
          <p:cNvSpPr>
            <a:spLocks/>
          </p:cNvSpPr>
          <p:nvPr/>
        </p:nvSpPr>
        <p:spPr>
          <a:xfrm>
            <a:off x="3625119" y="190057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81B8157D-D55B-F19F-EF4F-23C3972DC5BC}"/>
              </a:ext>
            </a:extLst>
          </p:cNvPr>
          <p:cNvSpPr>
            <a:spLocks/>
          </p:cNvSpPr>
          <p:nvPr/>
        </p:nvSpPr>
        <p:spPr>
          <a:xfrm>
            <a:off x="2577580" y="1900576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DA054F2A-4388-6DE3-A0FE-05E31B53BCC7}"/>
              </a:ext>
            </a:extLst>
          </p:cNvPr>
          <p:cNvSpPr>
            <a:spLocks/>
          </p:cNvSpPr>
          <p:nvPr/>
        </p:nvSpPr>
        <p:spPr>
          <a:xfrm>
            <a:off x="1517933" y="190057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174138FE-3492-50F6-D396-7FFCC84ADDB2}"/>
              </a:ext>
            </a:extLst>
          </p:cNvPr>
          <p:cNvSpPr>
            <a:spLocks/>
          </p:cNvSpPr>
          <p:nvPr/>
        </p:nvSpPr>
        <p:spPr>
          <a:xfrm>
            <a:off x="470394" y="1875672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سلبي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A9D6BE93-D12F-8ADC-152A-DDC618518C9E}"/>
              </a:ext>
            </a:extLst>
          </p:cNvPr>
          <p:cNvSpPr/>
          <p:nvPr/>
        </p:nvSpPr>
        <p:spPr>
          <a:xfrm>
            <a:off x="8067518" y="2402996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3" name="Table 58">
            <a:extLst>
              <a:ext uri="{FF2B5EF4-FFF2-40B4-BE49-F238E27FC236}">
                <a16:creationId xmlns:a16="http://schemas.microsoft.com/office/drawing/2014/main" id="{7412F9D1-DAC8-4943-A0BE-E6753DE6C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725347"/>
              </p:ext>
            </p:extLst>
          </p:nvPr>
        </p:nvGraphicFramePr>
        <p:xfrm>
          <a:off x="386561" y="2754227"/>
          <a:ext cx="11418877" cy="68896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0947292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5%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1609324">
                        <a:defRPr/>
                      </a:pPr>
                      <a:r>
                        <a:rPr lang="ar-SA" sz="1100" b="1" dirty="0">
                          <a:solidFill>
                            <a:srgbClr val="105E62">
                              <a:lumMod val="50000"/>
                            </a:srgbClr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0%</a:t>
                      </a:r>
                      <a:endParaRPr lang="en-US" sz="1100" b="1" dirty="0">
                        <a:solidFill>
                          <a:srgbClr val="105E62">
                            <a:lumMod val="50000"/>
                          </a:srgbClr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376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09599" y="1470389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رفع كفاءة الهيئة للاستجابة والاستعداد للطوارئ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501899"/>
              </p:ext>
            </p:extLst>
          </p:nvPr>
        </p:nvGraphicFramePr>
        <p:xfrm>
          <a:off x="609600" y="1939923"/>
          <a:ext cx="10972800" cy="118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تحقيق مستويات عالية من الاستعداد لمواجهة حالات الطوارئ والاستجابة السريعة بكفاءة وفعالية 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حسام الصالح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499614"/>
              </p:ext>
            </p:extLst>
          </p:nvPr>
        </p:nvGraphicFramePr>
        <p:xfrm>
          <a:off x="609600" y="3170051"/>
          <a:ext cx="10972799" cy="1271565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7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30384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27474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608589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الإجراءات التصحيحية للفرضيات ( هلال )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i="0" u="none" strike="noStrike" kern="1200" cap="none" noProof="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35%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50%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4539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76035"/>
              </p:ext>
            </p:extLst>
          </p:nvPr>
        </p:nvGraphicFramePr>
        <p:xfrm>
          <a:off x="609600" y="4633143"/>
          <a:ext cx="10972800" cy="944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004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ينطبق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ينطبق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6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B103E-D59F-8957-81BF-0085CC6C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9ADF3D79-F4C5-0497-17EC-948B63F27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10EC6BFF-7385-359E-79DC-C770422C4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F10F6B4D-D66D-CB76-F3FC-816831D39FCB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نسبة الإجراءات التصحيحية للفرضيات ( هلال )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42108CFB-31DF-618D-3700-E0E7F8C1D9A6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 defTabSz="2452559" rtl="1"/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رفع كفاءة الهيئة للاستجابة والاستعداد للطوارئ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8055202D-5B76-4ECA-165E-4521AE6781A3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365D0FAA-DC92-9516-7682-1962E856C636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8EB5B7F-82FD-B173-A234-0A324B434A31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4B30C2A3-2566-BD7C-593F-33F36D901AFD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30CB6BF9-F8B4-4DAC-620B-92985C01F8EF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F540203B-8E61-902A-04A9-21DC6DA826F9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6B34D945-A53D-13FA-310C-DF10A51E0D59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33A94030-F687-F066-D152-D56A3BFA7C81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CB73B213-7DB4-A801-9F0B-8183BF1A7A6F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E7076FE6-0EBB-08EA-4254-3DB6FE898B93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B71BF222-5669-9B3D-63A7-2633C7489EFE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D8DB8D0-1EB5-8ABC-AA5F-3479AD86F5AC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1D5C6095-05D3-6A3F-0524-8B18A0BD9B26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B53BC7C0-CAB9-18CD-E29F-A5216D81CD96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A25986A6-C49A-F6A7-404B-73E46CC88168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B401E913-7D2B-23C7-F563-F416C9F7DB26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3" name="Table 58">
            <a:extLst>
              <a:ext uri="{FF2B5EF4-FFF2-40B4-BE49-F238E27FC236}">
                <a16:creationId xmlns:a16="http://schemas.microsoft.com/office/drawing/2014/main" id="{77C51371-9558-5F7B-FF0C-FDBE6D17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94047"/>
              </p:ext>
            </p:extLst>
          </p:nvPr>
        </p:nvGraphicFramePr>
        <p:xfrm>
          <a:off x="334587" y="2714329"/>
          <a:ext cx="11418877" cy="68896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079106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0%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%20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%35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%50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70%</a:t>
                      </a:r>
                      <a:endParaRPr lang="ar-SA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23B138D2-68C7-2C3A-7C68-68FE497CB107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يقيس هذا المؤشر نسبة الإجراءات التصحيحية التي </a:t>
            </a:r>
            <a:r>
              <a:rPr lang="ar-SA" sz="1000" kern="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تم تنفيذها من نقاط التحسين التي تم رصدها خلال فرضيات هلال  </a:t>
            </a:r>
            <a:endParaRPr kumimoji="0" lang="ar-SA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6B364716-99A8-AF33-CA07-7124F47C5A59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B2BA014A-3923-E4C1-AE9E-A1CCD679B7E3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D647D8C-12BE-D72E-3CB0-020A20AE9D40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عدد الاجراءات التصحيحية المنفذة من الفرضيات / اجمالي عدد نقاط التحسين المرصودة من الفرضيات *100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C5CCBA43-3990-5138-A1BF-3757CE3EBAF0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326A47BD-7CBB-BA4E-3470-EDC032583B68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A254E494-AAD8-35B0-0D4D-62A5E88BA133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7FD52E3B-45A5-F660-7473-1CA671AA9A3B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0487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7"/>
            <a:ext cx="11684000" cy="291579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4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defTabSz="911432" rtl="0">
              <a:defRPr/>
            </a:pPr>
            <a:r>
              <a:rPr lang="ar-SA" sz="1400" dirty="0"/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572315" y="1390001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09">
              <a:lnSpc>
                <a:spcPct val="90000"/>
              </a:lnSpc>
              <a:spcBef>
                <a:spcPts val="900"/>
              </a:spcBef>
              <a:defRPr/>
            </a:pPr>
            <a:r>
              <a:rPr lang="ar-SA" sz="1400" b="1" dirty="0">
                <a:solidFill>
                  <a:prstClr val="white"/>
                </a:solidFill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lang="en-US" sz="1400" b="1" dirty="0">
              <a:solidFill>
                <a:prstClr val="white"/>
              </a:solidFill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2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defTabSz="911432">
              <a:defRPr/>
            </a:pPr>
            <a:r>
              <a:rPr lang="ar-SA" dirty="0"/>
              <a:t>تطبيق المعايير المحلية والدولية لتعزيز الجودة ورفع كفاءة الخدمات الإسعافية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011312"/>
              </p:ext>
            </p:extLst>
          </p:nvPr>
        </p:nvGraphicFramePr>
        <p:xfrm>
          <a:off x="572315" y="1907053"/>
          <a:ext cx="10972800" cy="1185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تحقيق مستوى عالي في جودة الخدمات الاسعافية المقدمة بالتطبيق معايير محلية ودولية بالمشاركة بين الإدارات التشغيلية والمشتركة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عبد العزيز عقيلي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202817"/>
              </p:ext>
            </p:extLst>
          </p:nvPr>
        </p:nvGraphicFramePr>
        <p:xfrm>
          <a:off x="572315" y="3320188"/>
          <a:ext cx="10969142" cy="1284632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6026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9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62300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5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301284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anose="01000000000000000000"/>
                          <a:ea typeface="+mn-ea"/>
                          <a:cs typeface="Frutiger LT Arabic 55 Roman" panose="01000000000000000000"/>
                        </a:rPr>
                        <a:t>نسبة معايير الحد الأدنى المحققة في القطاعات أو المراكز الاسعافية من المعيار الوطني للخدمات الطبية الاسعافية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anose="01000000000000000000"/>
                        <a:ea typeface="+mn-ea"/>
                        <a:cs typeface="Frutiger LT Arabic 55 Roman" panose="01000000000000000000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35%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45%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60%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70%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4830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572315" y="4910827"/>
          <a:ext cx="10972800" cy="961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50914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5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305143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05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3B21-53FE-4E33-FA76-567D5C99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84FEA795-407C-3DB1-B406-C9527C6A5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7E40A3CD-ECEA-093C-0E0E-F1C1FC8A6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AB2516CC-53F4-A37F-34F5-90253265CAE7}"/>
              </a:ext>
            </a:extLst>
          </p:cNvPr>
          <p:cNvSpPr>
            <a:spLocks/>
          </p:cNvSpPr>
          <p:nvPr/>
        </p:nvSpPr>
        <p:spPr>
          <a:xfrm>
            <a:off x="4749004" y="1232149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ctr" rtl="0">
              <a:lnSpc>
                <a:spcPct val="107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/>
                <a:cs typeface="Frutiger LT Arabic 55 Roman" panose="01000000000000000000"/>
              </a:rPr>
              <a:t>نسبة معايير الحد الأدنى المحققة في القطاعات أو المراكز الاسعافية من المعيار الوطني للخدمات الطبية الاسعافية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BCD99CC4-35E6-F493-D569-5D820D33C3A4}"/>
              </a:ext>
            </a:extLst>
          </p:cNvPr>
          <p:cNvSpPr>
            <a:spLocks/>
          </p:cNvSpPr>
          <p:nvPr/>
        </p:nvSpPr>
        <p:spPr>
          <a:xfrm>
            <a:off x="6096000" y="610307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r" defTabSz="911432" rtl="1">
              <a:defRPr/>
            </a:pPr>
            <a:r>
              <a:rPr lang="ar-SA" sz="1400" dirty="0">
                <a:latin typeface="Frutiger LT Arabic 55 Roman" pitchFamily="2" charset="-78"/>
                <a:cs typeface="Frutiger LT Arabic 55 Roman" pitchFamily="2" charset="-78"/>
              </a:rPr>
              <a:t>تطبيق المعايير المحلية والدولية لتعزيز الجودة ورفع كفاءة الخدمات الإسعافية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17EA9E83-D0F7-12E3-5BB4-D024572881A1}"/>
              </a:ext>
            </a:extLst>
          </p:cNvPr>
          <p:cNvSpPr>
            <a:spLocks/>
          </p:cNvSpPr>
          <p:nvPr/>
        </p:nvSpPr>
        <p:spPr>
          <a:xfrm>
            <a:off x="10861394" y="1230063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F422A3ED-9FD2-DD42-58B9-A484D6FC5EA5}"/>
              </a:ext>
            </a:extLst>
          </p:cNvPr>
          <p:cNvSpPr>
            <a:spLocks/>
          </p:cNvSpPr>
          <p:nvPr/>
        </p:nvSpPr>
        <p:spPr>
          <a:xfrm>
            <a:off x="10829864" y="612591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63F6B14-9824-7456-62AB-BD4BC7853FA6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57CC5C58-F0CF-63B1-F814-79D74097CA4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91247DBB-8713-36A8-947C-C8B0575B470B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31A0C1EF-7DB7-3442-52A7-77E05A7E79F5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44A6D869-B290-16BB-8F83-08C677425683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BD5D2993-7FE6-088F-4EE8-EA3F56C9A7BB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8C25FC80-C22E-F52D-1DC1-E4ABB6CCD553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3A18BE-9D1C-F1A4-B989-CDAA926D8158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E89DFEB1-54E5-07D2-E119-6427C60DDEBF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0CF81CB5-9777-8F85-DDBA-B9FAEE6D4F0D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92144219-FFB4-09AA-DBA3-294E57ABF4D8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48EB4FF1-C3FB-451D-22E3-616CF7251C64}"/>
              </a:ext>
            </a:extLst>
          </p:cNvPr>
          <p:cNvSpPr txBox="1"/>
          <p:nvPr/>
        </p:nvSpPr>
        <p:spPr>
          <a:xfrm>
            <a:off x="9864511" y="234981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3BA176E1-D99E-6C23-54DF-F1863E3A51BC}"/>
              </a:ext>
            </a:extLst>
          </p:cNvPr>
          <p:cNvSpPr>
            <a:spLocks/>
          </p:cNvSpPr>
          <p:nvPr/>
        </p:nvSpPr>
        <p:spPr>
          <a:xfrm>
            <a:off x="527995" y="606685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C58F08B2-5EC3-6FB4-1343-3990BF7CC64A}"/>
              </a:ext>
            </a:extLst>
          </p:cNvPr>
          <p:cNvSpPr>
            <a:spLocks/>
          </p:cNvSpPr>
          <p:nvPr/>
        </p:nvSpPr>
        <p:spPr>
          <a:xfrm>
            <a:off x="4749004" y="608969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EA221BD6-3192-8363-52E2-144475197C4A}"/>
              </a:ext>
            </a:extLst>
          </p:cNvPr>
          <p:cNvSpPr>
            <a:spLocks/>
          </p:cNvSpPr>
          <p:nvPr/>
        </p:nvSpPr>
        <p:spPr>
          <a:xfrm>
            <a:off x="4749004" y="1838463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r" defTabSz="122597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يقيس هذا المؤشر نسبة المعايير الحد الأدنى المحققة لللقطاعات أو المراكز الاسعافية من المعيار الوطني للخدمات الطبية الاسعافية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F85AEA4-5839-942C-EB9A-62C9A800F8E5}"/>
              </a:ext>
            </a:extLst>
          </p:cNvPr>
          <p:cNvSpPr>
            <a:spLocks/>
          </p:cNvSpPr>
          <p:nvPr/>
        </p:nvSpPr>
        <p:spPr>
          <a:xfrm>
            <a:off x="10861394" y="1838463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9B6F5F58-BC67-E836-CBB4-34126D5EB2BA}"/>
              </a:ext>
            </a:extLst>
          </p:cNvPr>
          <p:cNvSpPr>
            <a:spLocks/>
          </p:cNvSpPr>
          <p:nvPr/>
        </p:nvSpPr>
        <p:spPr>
          <a:xfrm>
            <a:off x="3775888" y="1230063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E6121ECA-F241-3C62-B9DD-0EE4CD2DFA56}"/>
              </a:ext>
            </a:extLst>
          </p:cNvPr>
          <p:cNvSpPr>
            <a:spLocks/>
          </p:cNvSpPr>
          <p:nvPr/>
        </p:nvSpPr>
        <p:spPr>
          <a:xfrm>
            <a:off x="527994" y="1220728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  <a:sym typeface="Arial"/>
              </a:rPr>
              <a:t>عدد معايير الحد الأدنى المطبقة في القطاعات أو المراكز الاسعافية /  اجمالي العدد الكلي لمعايير الحد الأدنى للقطاعات أو المراكز الاسعافية في الفرع  *100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B8BDEE07-BA5C-30C5-D793-3BEC17257401}"/>
              </a:ext>
            </a:extLst>
          </p:cNvPr>
          <p:cNvSpPr>
            <a:spLocks/>
          </p:cNvSpPr>
          <p:nvPr/>
        </p:nvSpPr>
        <p:spPr>
          <a:xfrm>
            <a:off x="3682719" y="1901781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AE8E3FD0-FF55-B871-9364-BDC1FE8649B3}"/>
              </a:ext>
            </a:extLst>
          </p:cNvPr>
          <p:cNvSpPr>
            <a:spLocks/>
          </p:cNvSpPr>
          <p:nvPr/>
        </p:nvSpPr>
        <p:spPr>
          <a:xfrm>
            <a:off x="2635180" y="1901781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BD3119FB-EF47-565A-AB94-E2C04EDACD17}"/>
              </a:ext>
            </a:extLst>
          </p:cNvPr>
          <p:cNvSpPr>
            <a:spLocks/>
          </p:cNvSpPr>
          <p:nvPr/>
        </p:nvSpPr>
        <p:spPr>
          <a:xfrm>
            <a:off x="1575533" y="1901781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F361E7FC-73E0-0093-233A-493E65A1D5FF}"/>
              </a:ext>
            </a:extLst>
          </p:cNvPr>
          <p:cNvSpPr>
            <a:spLocks/>
          </p:cNvSpPr>
          <p:nvPr/>
        </p:nvSpPr>
        <p:spPr>
          <a:xfrm>
            <a:off x="527994" y="1876877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A833396B-AA18-2A42-590C-6E5A9727F92D}"/>
              </a:ext>
            </a:extLst>
          </p:cNvPr>
          <p:cNvSpPr/>
          <p:nvPr/>
        </p:nvSpPr>
        <p:spPr>
          <a:xfrm>
            <a:off x="8062465" y="2400127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3" name="Table 58">
            <a:extLst>
              <a:ext uri="{FF2B5EF4-FFF2-40B4-BE49-F238E27FC236}">
                <a16:creationId xmlns:a16="http://schemas.microsoft.com/office/drawing/2014/main" id="{ABD3F546-A98D-47F5-A185-08C33F9FD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56539"/>
              </p:ext>
            </p:extLst>
          </p:nvPr>
        </p:nvGraphicFramePr>
        <p:xfrm>
          <a:off x="254000" y="2746793"/>
          <a:ext cx="11418877" cy="703679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079106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73911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عبدالعزيز عقيلي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30%</a:t>
                      </a:r>
                      <a:endParaRPr lang="en-US" sz="11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30%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35%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35%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45%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65%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70%</a:t>
                      </a:r>
                      <a:endParaRPr lang="ar-SA" sz="1100" b="1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465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15386" y="1140281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تعزيز الفخر والولاء والانتماء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/>
        </p:nvGraphicFramePr>
        <p:xfrm>
          <a:off x="615386" y="1521281"/>
          <a:ext cx="10972800" cy="118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خلق بيئة عمل ملهمة لقيادات وسفراء الحياة في الفروع لتعزيز الشعور بالفخر لما يقدموه والتقدير على ما انجزوه والاحتفاء بالنجاحات</a:t>
                      </a:r>
                    </a:p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ماجد محمد العنزي 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191797"/>
              </p:ext>
            </p:extLst>
          </p:nvPr>
        </p:nvGraphicFramePr>
        <p:xfrm>
          <a:off x="609600" y="2968497"/>
          <a:ext cx="10972799" cy="218300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7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30384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27474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46073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نسبة تطبيق ممارسات الإدارة التشاركية</a:t>
                      </a:r>
                      <a:endParaRPr lang="ar-SA" sz="1200" b="0" i="0" u="none" strike="noStrike" kern="1200" cap="none" noProof="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10%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30%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50%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95%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4539"/>
                  </a:ext>
                </a:extLst>
              </a:tr>
              <a:tr h="450705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cap="none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صرف المستحقات المالية للموظفين خلال 30 يوم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60%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95%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075672"/>
                  </a:ext>
                </a:extLst>
              </a:tr>
              <a:tr h="60858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cap="none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الارتباط الوظيفي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100%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066517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615386" y="5416442"/>
          <a:ext cx="10972800" cy="944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004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273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05883E81-8CE6-46AE-8448-E83EA3B78C49}"/>
              </a:ext>
            </a:extLst>
          </p:cNvPr>
          <p:cNvSpPr>
            <a:spLocks/>
          </p:cNvSpPr>
          <p:nvPr/>
        </p:nvSpPr>
        <p:spPr>
          <a:xfrm>
            <a:off x="4700604" y="1260464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ctr" defTabSz="1225973">
              <a:lnSpc>
                <a:spcPct val="11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تطبيق ممارسات الإدارة التشاركية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BD2910D-BE01-4299-AA3C-09DB8867E2BC}"/>
              </a:ext>
            </a:extLst>
          </p:cNvPr>
          <p:cNvSpPr>
            <a:spLocks/>
          </p:cNvSpPr>
          <p:nvPr/>
        </p:nvSpPr>
        <p:spPr>
          <a:xfrm>
            <a:off x="6047600" y="638622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تعزيز الفخر والولاء والانتماء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F331053-AFF3-44DC-AA89-88E2648D1A41}"/>
              </a:ext>
            </a:extLst>
          </p:cNvPr>
          <p:cNvSpPr>
            <a:spLocks/>
          </p:cNvSpPr>
          <p:nvPr/>
        </p:nvSpPr>
        <p:spPr>
          <a:xfrm>
            <a:off x="10812994" y="125837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49E8BA6A-B9B0-45A4-943E-BEB1EBF83BF2}"/>
              </a:ext>
            </a:extLst>
          </p:cNvPr>
          <p:cNvSpPr>
            <a:spLocks/>
          </p:cNvSpPr>
          <p:nvPr/>
        </p:nvSpPr>
        <p:spPr>
          <a:xfrm>
            <a:off x="10781464" y="640906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C4C53B2-AD6F-4E51-BE26-70F45A69D814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AB2492E-FAB4-46D9-AE8B-2F5C8746989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460FF86-91F8-4371-88D7-9B752A176ACA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10E8CB54-9B9C-4F64-82E3-3E9679EBC2DC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D7D87D13-38C3-489A-970A-C2A436FEF147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E1B13048-3224-4908-8802-A5FCF92DAAEE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A5389DC2-A610-4196-AA01-CA2AB5AEC54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27DF20-3E72-4572-A8CE-17FDEA8E36D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D9BB2371-4580-4FD2-9EEA-24DB73D8C3D0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5E66CCB-4908-4F0F-9D2D-32BB30B0520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DA4DF2B4-BC8A-4304-A06E-903D8E66D46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5CF99BC0-46FC-460F-8F7F-D2329045C3A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F9F1E2C2-28E3-41D0-BAD1-1EDD2C43375D}"/>
              </a:ext>
            </a:extLst>
          </p:cNvPr>
          <p:cNvSpPr>
            <a:spLocks/>
          </p:cNvSpPr>
          <p:nvPr/>
        </p:nvSpPr>
        <p:spPr>
          <a:xfrm>
            <a:off x="479595" y="635000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44872E9B-3FEF-4C8F-BEDF-83584B9E2F0A}"/>
              </a:ext>
            </a:extLst>
          </p:cNvPr>
          <p:cNvSpPr>
            <a:spLocks/>
          </p:cNvSpPr>
          <p:nvPr/>
        </p:nvSpPr>
        <p:spPr>
          <a:xfrm>
            <a:off x="4700604" y="637284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D53158DB-3B0D-A7E9-7063-8E482293DF90}"/>
              </a:ext>
            </a:extLst>
          </p:cNvPr>
          <p:cNvSpPr>
            <a:spLocks/>
          </p:cNvSpPr>
          <p:nvPr/>
        </p:nvSpPr>
        <p:spPr>
          <a:xfrm>
            <a:off x="4700604" y="1866778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يقيس المؤشر نسبة ارتباط مدير عام الفرع مع </a:t>
            </a: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( العلاقات الداخلية )</a:t>
            </a: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المنسوبين و ( العلاقات الخارجية )  القطاع الصحي والمجتمع 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B722E5D-CA2E-2EBB-7248-7736972F6801}"/>
              </a:ext>
            </a:extLst>
          </p:cNvPr>
          <p:cNvSpPr>
            <a:spLocks/>
          </p:cNvSpPr>
          <p:nvPr/>
        </p:nvSpPr>
        <p:spPr>
          <a:xfrm>
            <a:off x="10812994" y="186677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5BC9FA06-CE4D-7DFB-AEC8-643CAAA746FA}"/>
              </a:ext>
            </a:extLst>
          </p:cNvPr>
          <p:cNvSpPr>
            <a:spLocks/>
          </p:cNvSpPr>
          <p:nvPr/>
        </p:nvSpPr>
        <p:spPr>
          <a:xfrm>
            <a:off x="3727488" y="1258378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9D92609-0265-19D3-91D5-1DAABEB24A5C}"/>
              </a:ext>
            </a:extLst>
          </p:cNvPr>
          <p:cNvSpPr>
            <a:spLocks/>
          </p:cNvSpPr>
          <p:nvPr/>
        </p:nvSpPr>
        <p:spPr>
          <a:xfrm>
            <a:off x="479594" y="1249043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الأداء وفق النموذج المخصص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A11B9BB7-5125-4BE8-6ED5-70A912A96BBA}"/>
              </a:ext>
            </a:extLst>
          </p:cNvPr>
          <p:cNvSpPr>
            <a:spLocks/>
          </p:cNvSpPr>
          <p:nvPr/>
        </p:nvSpPr>
        <p:spPr>
          <a:xfrm>
            <a:off x="3634319" y="193009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23CFA3D3-2F88-022B-E604-A8B5AB5AC3DC}"/>
              </a:ext>
            </a:extLst>
          </p:cNvPr>
          <p:cNvSpPr>
            <a:spLocks/>
          </p:cNvSpPr>
          <p:nvPr/>
        </p:nvSpPr>
        <p:spPr>
          <a:xfrm>
            <a:off x="2586780" y="1930096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7B7CB986-F259-E376-653D-37F1598385A1}"/>
              </a:ext>
            </a:extLst>
          </p:cNvPr>
          <p:cNvSpPr>
            <a:spLocks/>
          </p:cNvSpPr>
          <p:nvPr/>
        </p:nvSpPr>
        <p:spPr>
          <a:xfrm>
            <a:off x="1527133" y="193009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49869538-89FC-A4D8-2867-5DEB50F5FFD6}"/>
              </a:ext>
            </a:extLst>
          </p:cNvPr>
          <p:cNvSpPr>
            <a:spLocks/>
          </p:cNvSpPr>
          <p:nvPr/>
        </p:nvSpPr>
        <p:spPr>
          <a:xfrm>
            <a:off x="479594" y="1905192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4" name="Table 58">
            <a:extLst>
              <a:ext uri="{FF2B5EF4-FFF2-40B4-BE49-F238E27FC236}">
                <a16:creationId xmlns:a16="http://schemas.microsoft.com/office/drawing/2014/main" id="{15C15CF5-15AC-434B-BCAF-E7C15E62C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162694"/>
              </p:ext>
            </p:extLst>
          </p:nvPr>
        </p:nvGraphicFramePr>
        <p:xfrm>
          <a:off x="334587" y="2714329"/>
          <a:ext cx="11418877" cy="70420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6692802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0%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5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10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10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10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30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30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30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50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50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50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95%</a:t>
                      </a:r>
                      <a:endParaRPr kumimoji="0" lang="ar-SA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45" name="Rectangle 59">
            <a:extLst>
              <a:ext uri="{FF2B5EF4-FFF2-40B4-BE49-F238E27FC236}">
                <a16:creationId xmlns:a16="http://schemas.microsoft.com/office/drawing/2014/main" id="{38FFC33A-DC35-45BE-B29D-39AF03BAC754}"/>
              </a:ext>
            </a:extLst>
          </p:cNvPr>
          <p:cNvSpPr/>
          <p:nvPr/>
        </p:nvSpPr>
        <p:spPr>
          <a:xfrm>
            <a:off x="8062465" y="2400127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256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05883E81-8CE6-46AE-8448-E83EA3B78C49}"/>
              </a:ext>
            </a:extLst>
          </p:cNvPr>
          <p:cNvSpPr>
            <a:spLocks/>
          </p:cNvSpPr>
          <p:nvPr/>
        </p:nvSpPr>
        <p:spPr>
          <a:xfrm>
            <a:off x="4717474" y="1444137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ctr">
              <a:defRPr/>
            </a:pPr>
            <a:r>
              <a:rPr lang="ar-SA" sz="1400" b="1" dirty="0">
                <a:solidFill>
                  <a:schemeClr val="dk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صرف المستحقات المالية للموظفين خلال 30 يوم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BD2910D-BE01-4299-AA3C-09DB8867E2BC}"/>
              </a:ext>
            </a:extLst>
          </p:cNvPr>
          <p:cNvSpPr>
            <a:spLocks/>
          </p:cNvSpPr>
          <p:nvPr/>
        </p:nvSpPr>
        <p:spPr>
          <a:xfrm>
            <a:off x="6064470" y="822295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تعزيز الفخر والولاء والانتماء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F331053-AFF3-44DC-AA89-88E2648D1A41}"/>
              </a:ext>
            </a:extLst>
          </p:cNvPr>
          <p:cNvSpPr>
            <a:spLocks/>
          </p:cNvSpPr>
          <p:nvPr/>
        </p:nvSpPr>
        <p:spPr>
          <a:xfrm>
            <a:off x="10829864" y="14420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49E8BA6A-B9B0-45A4-943E-BEB1EBF83BF2}"/>
              </a:ext>
            </a:extLst>
          </p:cNvPr>
          <p:cNvSpPr>
            <a:spLocks/>
          </p:cNvSpPr>
          <p:nvPr/>
        </p:nvSpPr>
        <p:spPr>
          <a:xfrm>
            <a:off x="10798334" y="824579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C4C53B2-AD6F-4E51-BE26-70F45A69D814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AB2492E-FAB4-46D9-AE8B-2F5C8746989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460FF86-91F8-4371-88D7-9B752A176ACA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10E8CB54-9B9C-4F64-82E3-3E9679EBC2DC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D7D87D13-38C3-489A-970A-C2A436FEF147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E1B13048-3224-4908-8802-A5FCF92DAAEE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A5389DC2-A610-4196-AA01-CA2AB5AEC54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27DF20-3E72-4572-A8CE-17FDEA8E36D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D9BB2371-4580-4FD2-9EEA-24DB73D8C3D0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5E66CCB-4908-4F0F-9D2D-32BB30B0520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DA4DF2B4-BC8A-4304-A06E-903D8E66D46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5CF99BC0-46FC-460F-8F7F-D2329045C3A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F9F1E2C2-28E3-41D0-BAD1-1EDD2C43375D}"/>
              </a:ext>
            </a:extLst>
          </p:cNvPr>
          <p:cNvSpPr>
            <a:spLocks/>
          </p:cNvSpPr>
          <p:nvPr/>
        </p:nvSpPr>
        <p:spPr>
          <a:xfrm>
            <a:off x="496465" y="818673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44872E9B-3FEF-4C8F-BEDF-83584B9E2F0A}"/>
              </a:ext>
            </a:extLst>
          </p:cNvPr>
          <p:cNvSpPr>
            <a:spLocks/>
          </p:cNvSpPr>
          <p:nvPr/>
        </p:nvSpPr>
        <p:spPr>
          <a:xfrm>
            <a:off x="4717474" y="820957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D53158DB-3B0D-A7E9-7063-8E482293DF90}"/>
              </a:ext>
            </a:extLst>
          </p:cNvPr>
          <p:cNvSpPr>
            <a:spLocks/>
          </p:cNvSpPr>
          <p:nvPr/>
        </p:nvSpPr>
        <p:spPr>
          <a:xfrm>
            <a:off x="4717474" y="2050451"/>
            <a:ext cx="608086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هذا المؤشر نسبة التزام صرف المستحقات المالية للموظفين (الانتداب - العمل الإضافي) خلال 30 يوم عمل 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B722E5D-CA2E-2EBB-7248-7736972F6801}"/>
              </a:ext>
            </a:extLst>
          </p:cNvPr>
          <p:cNvSpPr>
            <a:spLocks/>
          </p:cNvSpPr>
          <p:nvPr/>
        </p:nvSpPr>
        <p:spPr>
          <a:xfrm>
            <a:off x="10829864" y="2050451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5BC9FA06-CE4D-7DFB-AEC8-643CAAA746FA}"/>
              </a:ext>
            </a:extLst>
          </p:cNvPr>
          <p:cNvSpPr>
            <a:spLocks/>
          </p:cNvSpPr>
          <p:nvPr/>
        </p:nvSpPr>
        <p:spPr>
          <a:xfrm>
            <a:off x="3744358" y="1442051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9D92609-0265-19D3-91D5-1DAABEB24A5C}"/>
              </a:ext>
            </a:extLst>
          </p:cNvPr>
          <p:cNvSpPr>
            <a:spLocks/>
          </p:cNvSpPr>
          <p:nvPr/>
        </p:nvSpPr>
        <p:spPr>
          <a:xfrm>
            <a:off x="496464" y="1432716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 rtl="1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(إجمالي المستحقات المصروفة للموظفين خلال 30 يوم</a:t>
            </a:r>
            <a:r>
              <a:rPr lang="en-US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/ </a:t>
            </a: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اجمالي المستحقات للموظفين)*100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A11B9BB7-5125-4BE8-6ED5-70A912A96BBA}"/>
              </a:ext>
            </a:extLst>
          </p:cNvPr>
          <p:cNvSpPr>
            <a:spLocks/>
          </p:cNvSpPr>
          <p:nvPr/>
        </p:nvSpPr>
        <p:spPr>
          <a:xfrm>
            <a:off x="3651189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23CFA3D3-2F88-022B-E604-A8B5AB5AC3DC}"/>
              </a:ext>
            </a:extLst>
          </p:cNvPr>
          <p:cNvSpPr>
            <a:spLocks/>
          </p:cNvSpPr>
          <p:nvPr/>
        </p:nvSpPr>
        <p:spPr>
          <a:xfrm>
            <a:off x="2603650" y="2113769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7B7CB986-F259-E376-653D-37F1598385A1}"/>
              </a:ext>
            </a:extLst>
          </p:cNvPr>
          <p:cNvSpPr>
            <a:spLocks/>
          </p:cNvSpPr>
          <p:nvPr/>
        </p:nvSpPr>
        <p:spPr>
          <a:xfrm>
            <a:off x="1544003" y="2113769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49869538-89FC-A4D8-2867-5DEB50F5FFD6}"/>
              </a:ext>
            </a:extLst>
          </p:cNvPr>
          <p:cNvSpPr>
            <a:spLocks/>
          </p:cNvSpPr>
          <p:nvPr/>
        </p:nvSpPr>
        <p:spPr>
          <a:xfrm>
            <a:off x="496464" y="208886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4" name="Rectangle: Rounded Corners 38">
            <a:extLst>
              <a:ext uri="{FF2B5EF4-FFF2-40B4-BE49-F238E27FC236}">
                <a16:creationId xmlns:a16="http://schemas.microsoft.com/office/drawing/2014/main" id="{A5749F75-6D5D-4284-BBBE-3656F3BF2F44}"/>
              </a:ext>
            </a:extLst>
          </p:cNvPr>
          <p:cNvSpPr>
            <a:spLocks/>
          </p:cNvSpPr>
          <p:nvPr/>
        </p:nvSpPr>
        <p:spPr>
          <a:xfrm>
            <a:off x="10829864" y="2658851"/>
            <a:ext cx="914400" cy="558393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استثناءات النطاق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5" name="Rectangle: Rounded Corners 38">
            <a:extLst>
              <a:ext uri="{FF2B5EF4-FFF2-40B4-BE49-F238E27FC236}">
                <a16:creationId xmlns:a16="http://schemas.microsoft.com/office/drawing/2014/main" id="{6E45FFAC-DC79-4EAE-9980-74BD579ACD74}"/>
              </a:ext>
            </a:extLst>
          </p:cNvPr>
          <p:cNvSpPr>
            <a:spLocks/>
          </p:cNvSpPr>
          <p:nvPr/>
        </p:nvSpPr>
        <p:spPr>
          <a:xfrm>
            <a:off x="4717474" y="2650737"/>
            <a:ext cx="5995933" cy="5594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عدد الأيام المستغرقة لدى المراقب المالي – عدد أيام الإجازات الرسمية 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6" name="Rectangle: Rounded Corners 38">
            <a:extLst>
              <a:ext uri="{FF2B5EF4-FFF2-40B4-BE49-F238E27FC236}">
                <a16:creationId xmlns:a16="http://schemas.microsoft.com/office/drawing/2014/main" id="{66659939-E6D8-4ADD-8628-741B7B1A6904}"/>
              </a:ext>
            </a:extLst>
          </p:cNvPr>
          <p:cNvSpPr>
            <a:spLocks/>
          </p:cNvSpPr>
          <p:nvPr/>
        </p:nvSpPr>
        <p:spPr>
          <a:xfrm>
            <a:off x="3744358" y="2671625"/>
            <a:ext cx="900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مصدر البيانات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47" name="Rectangle: Rounded Corners 38">
            <a:extLst>
              <a:ext uri="{FF2B5EF4-FFF2-40B4-BE49-F238E27FC236}">
                <a16:creationId xmlns:a16="http://schemas.microsoft.com/office/drawing/2014/main" id="{6642F704-B853-44AC-9E79-91A629DBD991}"/>
              </a:ext>
            </a:extLst>
          </p:cNvPr>
          <p:cNvSpPr>
            <a:spLocks/>
          </p:cNvSpPr>
          <p:nvPr/>
        </p:nvSpPr>
        <p:spPr>
          <a:xfrm>
            <a:off x="496464" y="2671625"/>
            <a:ext cx="3180217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البوابة الإلكترونية الداخلية للهيئة</a:t>
            </a: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 </a:t>
            </a:r>
          </a:p>
        </p:txBody>
      </p:sp>
      <p:graphicFrame>
        <p:nvGraphicFramePr>
          <p:cNvPr id="48" name="Table 58">
            <a:extLst>
              <a:ext uri="{FF2B5EF4-FFF2-40B4-BE49-F238E27FC236}">
                <a16:creationId xmlns:a16="http://schemas.microsoft.com/office/drawing/2014/main" id="{072EA27C-A0AC-4CC9-9A5B-6451B43ED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1569"/>
              </p:ext>
            </p:extLst>
          </p:nvPr>
        </p:nvGraphicFramePr>
        <p:xfrm>
          <a:off x="496464" y="3893743"/>
          <a:ext cx="11418877" cy="1184133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91611149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44536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35628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40%</a:t>
                      </a: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60%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60%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60%</a:t>
                      </a:r>
                    </a:p>
                  </a:txBody>
                  <a:tcPr marL="118128" marR="118128" marT="59064" marB="5906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ctr" latinLnBrk="0" hangingPunct="1"/>
                      <a:r>
                        <a:rPr lang="ar-S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840209"/>
                  </a:ext>
                </a:extLst>
              </a:tr>
              <a:tr h="382485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091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578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05883E81-8CE6-46AE-8448-E83EA3B78C49}"/>
              </a:ext>
            </a:extLst>
          </p:cNvPr>
          <p:cNvSpPr>
            <a:spLocks/>
          </p:cNvSpPr>
          <p:nvPr/>
        </p:nvSpPr>
        <p:spPr>
          <a:xfrm>
            <a:off x="4668746" y="1260464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ctr">
              <a:defRPr/>
            </a:pPr>
            <a:r>
              <a:rPr lang="ar-SA" sz="1400" b="1" dirty="0">
                <a:solidFill>
                  <a:schemeClr val="dk1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الارتباط الوظيفي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BD2910D-BE01-4299-AA3C-09DB8867E2BC}"/>
              </a:ext>
            </a:extLst>
          </p:cNvPr>
          <p:cNvSpPr>
            <a:spLocks/>
          </p:cNvSpPr>
          <p:nvPr/>
        </p:nvSpPr>
        <p:spPr>
          <a:xfrm>
            <a:off x="6015742" y="638622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تعزيز الفخر والولاء والانتماء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F331053-AFF3-44DC-AA89-88E2648D1A41}"/>
              </a:ext>
            </a:extLst>
          </p:cNvPr>
          <p:cNvSpPr>
            <a:spLocks/>
          </p:cNvSpPr>
          <p:nvPr/>
        </p:nvSpPr>
        <p:spPr>
          <a:xfrm>
            <a:off x="10781136" y="125837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49E8BA6A-B9B0-45A4-943E-BEB1EBF83BF2}"/>
              </a:ext>
            </a:extLst>
          </p:cNvPr>
          <p:cNvSpPr>
            <a:spLocks/>
          </p:cNvSpPr>
          <p:nvPr/>
        </p:nvSpPr>
        <p:spPr>
          <a:xfrm>
            <a:off x="10749606" y="640906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C4C53B2-AD6F-4E51-BE26-70F45A69D814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AB2492E-FAB4-46D9-AE8B-2F5C8746989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460FF86-91F8-4371-88D7-9B752A176ACA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10E8CB54-9B9C-4F64-82E3-3E9679EBC2DC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D7D87D13-38C3-489A-970A-C2A436FEF147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E1B13048-3224-4908-8802-A5FCF92DAAEE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A5389DC2-A610-4196-AA01-CA2AB5AEC54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27DF20-3E72-4572-A8CE-17FDEA8E36D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D9BB2371-4580-4FD2-9EEA-24DB73D8C3D0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5E66CCB-4908-4F0F-9D2D-32BB30B0520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DA4DF2B4-BC8A-4304-A06E-903D8E66D46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5CF99BC0-46FC-460F-8F7F-D2329045C3A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F9F1E2C2-28E3-41D0-BAD1-1EDD2C43375D}"/>
              </a:ext>
            </a:extLst>
          </p:cNvPr>
          <p:cNvSpPr>
            <a:spLocks/>
          </p:cNvSpPr>
          <p:nvPr/>
        </p:nvSpPr>
        <p:spPr>
          <a:xfrm>
            <a:off x="447737" y="635000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44872E9B-3FEF-4C8F-BEDF-83584B9E2F0A}"/>
              </a:ext>
            </a:extLst>
          </p:cNvPr>
          <p:cNvSpPr>
            <a:spLocks/>
          </p:cNvSpPr>
          <p:nvPr/>
        </p:nvSpPr>
        <p:spPr>
          <a:xfrm>
            <a:off x="4668746" y="637284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D53158DB-3B0D-A7E9-7063-8E482293DF90}"/>
              </a:ext>
            </a:extLst>
          </p:cNvPr>
          <p:cNvSpPr>
            <a:spLocks/>
          </p:cNvSpPr>
          <p:nvPr/>
        </p:nvSpPr>
        <p:spPr>
          <a:xfrm>
            <a:off x="4662652" y="1879164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يقيس المؤشر نسبة الاجراءات التحسينية التي تم العمل عليها من مجموعة الاجراءات الواردة في تقرير وزارة الموارد البشرية 2023م </a:t>
            </a:r>
          </a:p>
          <a:p>
            <a:pPr lvl="0" defTabSz="1225973">
              <a:lnSpc>
                <a:spcPct val="110000"/>
              </a:lnSpc>
              <a:defRPr/>
            </a:pP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B722E5D-CA2E-2EBB-7248-7736972F6801}"/>
              </a:ext>
            </a:extLst>
          </p:cNvPr>
          <p:cNvSpPr>
            <a:spLocks/>
          </p:cNvSpPr>
          <p:nvPr/>
        </p:nvSpPr>
        <p:spPr>
          <a:xfrm>
            <a:off x="10781136" y="1866778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5BC9FA06-CE4D-7DFB-AEC8-643CAAA746FA}"/>
              </a:ext>
            </a:extLst>
          </p:cNvPr>
          <p:cNvSpPr>
            <a:spLocks/>
          </p:cNvSpPr>
          <p:nvPr/>
        </p:nvSpPr>
        <p:spPr>
          <a:xfrm>
            <a:off x="3695630" y="1258378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9D92609-0265-19D3-91D5-1DAABEB24A5C}"/>
              </a:ext>
            </a:extLst>
          </p:cNvPr>
          <p:cNvSpPr>
            <a:spLocks/>
          </p:cNvSpPr>
          <p:nvPr/>
        </p:nvSpPr>
        <p:spPr>
          <a:xfrm>
            <a:off x="447736" y="1249043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(عدد الاجراءات التحسينية / اجمالي نقاط التحسين ) *100</a:t>
            </a:r>
          </a:p>
          <a:p>
            <a:pPr lvl="0" defTabSz="1609364">
              <a:defRPr/>
            </a:pP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A11B9BB7-5125-4BE8-6ED5-70A912A96BBA}"/>
              </a:ext>
            </a:extLst>
          </p:cNvPr>
          <p:cNvSpPr>
            <a:spLocks/>
          </p:cNvSpPr>
          <p:nvPr/>
        </p:nvSpPr>
        <p:spPr>
          <a:xfrm>
            <a:off x="3602461" y="193009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23CFA3D3-2F88-022B-E604-A8B5AB5AC3DC}"/>
              </a:ext>
            </a:extLst>
          </p:cNvPr>
          <p:cNvSpPr>
            <a:spLocks/>
          </p:cNvSpPr>
          <p:nvPr/>
        </p:nvSpPr>
        <p:spPr>
          <a:xfrm>
            <a:off x="2554922" y="1930096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7B7CB986-F259-E376-653D-37F1598385A1}"/>
              </a:ext>
            </a:extLst>
          </p:cNvPr>
          <p:cNvSpPr>
            <a:spLocks/>
          </p:cNvSpPr>
          <p:nvPr/>
        </p:nvSpPr>
        <p:spPr>
          <a:xfrm>
            <a:off x="1495275" y="1930096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49869538-89FC-A4D8-2867-5DEB50F5FFD6}"/>
              </a:ext>
            </a:extLst>
          </p:cNvPr>
          <p:cNvSpPr>
            <a:spLocks/>
          </p:cNvSpPr>
          <p:nvPr/>
        </p:nvSpPr>
        <p:spPr>
          <a:xfrm>
            <a:off x="447736" y="1905192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4" name="Table 58">
            <a:extLst>
              <a:ext uri="{FF2B5EF4-FFF2-40B4-BE49-F238E27FC236}">
                <a16:creationId xmlns:a16="http://schemas.microsoft.com/office/drawing/2014/main" id="{E1544209-9DEF-43FE-BD4C-15139D4DB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651455"/>
              </p:ext>
            </p:extLst>
          </p:nvPr>
        </p:nvGraphicFramePr>
        <p:xfrm>
          <a:off x="325387" y="3062395"/>
          <a:ext cx="11418877" cy="795382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6692802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313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74.6%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74.6%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100%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45" name="Rectangle 59">
            <a:extLst>
              <a:ext uri="{FF2B5EF4-FFF2-40B4-BE49-F238E27FC236}">
                <a16:creationId xmlns:a16="http://schemas.microsoft.com/office/drawing/2014/main" id="{19A79FF0-8BCE-4409-B18A-F5EADB0AD3C8}"/>
              </a:ext>
            </a:extLst>
          </p:cNvPr>
          <p:cNvSpPr/>
          <p:nvPr/>
        </p:nvSpPr>
        <p:spPr>
          <a:xfrm>
            <a:off x="8070557" y="2558505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360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C135F22-FFD5-41F5-84C1-3F4858D76DA4}"/>
              </a:ext>
            </a:extLst>
          </p:cNvPr>
          <p:cNvSpPr/>
          <p:nvPr/>
        </p:nvSpPr>
        <p:spPr>
          <a:xfrm>
            <a:off x="609600" y="1320241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التكامل مع المجمتع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11161"/>
              </p:ext>
            </p:extLst>
          </p:nvPr>
        </p:nvGraphicFramePr>
        <p:xfrm>
          <a:off x="609600" y="1796825"/>
          <a:ext cx="10972800" cy="118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4066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779102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تعزيز دور القطاع الحكومي والخاص وغير الربحي والخيري في تقديم الخدمة الإسعافية الطارئة</a:t>
                      </a: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حسام الصالح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مدير الفرع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45129"/>
              </p:ext>
            </p:extLst>
          </p:nvPr>
        </p:nvGraphicFramePr>
        <p:xfrm>
          <a:off x="609601" y="3162047"/>
          <a:ext cx="10972799" cy="1271565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7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330384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27474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60858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cap="none" noProof="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نسبة ساعات التشغيل للفرق الاسعافية المستجيبة للطوارئ من غير الهيئة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5%</a:t>
                      </a:r>
                      <a:endParaRPr lang="ar-SA" sz="1200" b="1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4539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4733253"/>
          <a:ext cx="10972800" cy="944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00400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260877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547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05883E81-8CE6-46AE-8448-E83EA3B78C49}"/>
              </a:ext>
            </a:extLst>
          </p:cNvPr>
          <p:cNvSpPr>
            <a:spLocks/>
          </p:cNvSpPr>
          <p:nvPr/>
        </p:nvSpPr>
        <p:spPr>
          <a:xfrm>
            <a:off x="4668746" y="1256842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ctr" defTabSz="1225973">
              <a:lnSpc>
                <a:spcPct val="110000"/>
              </a:lnSpc>
              <a:defRPr/>
            </a:pPr>
            <a:r>
              <a:rPr lang="ar-SA" sz="12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ساعات التشغيل للفرق الاسعافية المستجيبة للطوارئ من غير الهيئة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1BD2910D-BE01-4299-AA3C-09DB8867E2BC}"/>
              </a:ext>
            </a:extLst>
          </p:cNvPr>
          <p:cNvSpPr>
            <a:spLocks/>
          </p:cNvSpPr>
          <p:nvPr/>
        </p:nvSpPr>
        <p:spPr>
          <a:xfrm>
            <a:off x="6015742" y="635000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التكامل مع المجتمع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AF331053-AFF3-44DC-AA89-88E2648D1A41}"/>
              </a:ext>
            </a:extLst>
          </p:cNvPr>
          <p:cNvSpPr>
            <a:spLocks/>
          </p:cNvSpPr>
          <p:nvPr/>
        </p:nvSpPr>
        <p:spPr>
          <a:xfrm>
            <a:off x="10781136" y="1254756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49E8BA6A-B9B0-45A4-943E-BEB1EBF83BF2}"/>
              </a:ext>
            </a:extLst>
          </p:cNvPr>
          <p:cNvSpPr>
            <a:spLocks/>
          </p:cNvSpPr>
          <p:nvPr/>
        </p:nvSpPr>
        <p:spPr>
          <a:xfrm>
            <a:off x="10749606" y="637284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C4C53B2-AD6F-4E51-BE26-70F45A69D814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EAB2492E-FAB4-46D9-AE8B-2F5C87469891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460FF86-91F8-4371-88D7-9B752A176ACA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10E8CB54-9B9C-4F64-82E3-3E9679EBC2DC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D7D87D13-38C3-489A-970A-C2A436FEF147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E1B13048-3224-4908-8802-A5FCF92DAAEE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A5389DC2-A610-4196-AA01-CA2AB5AEC54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327DF20-3E72-4572-A8CE-17FDEA8E36DD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D9BB2371-4580-4FD2-9EEA-24DB73D8C3D0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B5E66CCB-4908-4F0F-9D2D-32BB30B05207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DA4DF2B4-BC8A-4304-A06E-903D8E66D461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5CF99BC0-46FC-460F-8F7F-D2329045C3A8}"/>
              </a:ext>
            </a:extLst>
          </p:cNvPr>
          <p:cNvSpPr txBox="1"/>
          <p:nvPr/>
        </p:nvSpPr>
        <p:spPr>
          <a:xfrm>
            <a:off x="9838441" y="29170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F9F1E2C2-28E3-41D0-BAD1-1EDD2C43375D}"/>
              </a:ext>
            </a:extLst>
          </p:cNvPr>
          <p:cNvSpPr>
            <a:spLocks/>
          </p:cNvSpPr>
          <p:nvPr/>
        </p:nvSpPr>
        <p:spPr>
          <a:xfrm>
            <a:off x="447737" y="631378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44872E9B-3FEF-4C8F-BEDF-83584B9E2F0A}"/>
              </a:ext>
            </a:extLst>
          </p:cNvPr>
          <p:cNvSpPr>
            <a:spLocks/>
          </p:cNvSpPr>
          <p:nvPr/>
        </p:nvSpPr>
        <p:spPr>
          <a:xfrm>
            <a:off x="4668746" y="633662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D53158DB-3B0D-A7E9-7063-8E482293DF90}"/>
              </a:ext>
            </a:extLst>
          </p:cNvPr>
          <p:cNvSpPr>
            <a:spLocks/>
          </p:cNvSpPr>
          <p:nvPr/>
        </p:nvSpPr>
        <p:spPr>
          <a:xfrm>
            <a:off x="4668746" y="1863156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قياس نسبة البلاغات الإسعافية التي تم الاستجابة لها عن طريق القطاع الخاص المتعاقد معه و القطاع الحكومي و القطاع الثالث من اجمالي البلاغات التي تم الاستجابة لها من جميع الوحدات/القطاعات.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0B722E5D-CA2E-2EBB-7248-7736972F6801}"/>
              </a:ext>
            </a:extLst>
          </p:cNvPr>
          <p:cNvSpPr>
            <a:spLocks/>
          </p:cNvSpPr>
          <p:nvPr/>
        </p:nvSpPr>
        <p:spPr>
          <a:xfrm>
            <a:off x="10781136" y="1863156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5BC9FA06-CE4D-7DFB-AEC8-643CAAA746FA}"/>
              </a:ext>
            </a:extLst>
          </p:cNvPr>
          <p:cNvSpPr>
            <a:spLocks/>
          </p:cNvSpPr>
          <p:nvPr/>
        </p:nvSpPr>
        <p:spPr>
          <a:xfrm>
            <a:off x="3695630" y="1254756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69D92609-0265-19D3-91D5-1DAABEB24A5C}"/>
              </a:ext>
            </a:extLst>
          </p:cNvPr>
          <p:cNvSpPr>
            <a:spLocks/>
          </p:cNvSpPr>
          <p:nvPr/>
        </p:nvSpPr>
        <p:spPr>
          <a:xfrm>
            <a:off x="447736" y="1254756"/>
            <a:ext cx="3224195" cy="6462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225973">
              <a:lnSpc>
                <a:spcPct val="110000"/>
              </a:lnSpc>
              <a:defRPr/>
            </a:pPr>
            <a:r>
              <a:rPr lang="ar-SA" sz="9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عدد البلاغات الإسعافية التي تم الاستجابة لها عن طريق القطاع الخاص المتعاقد معه/ القطاع الحكومي/ القطاع الثالث  /  البلاغات التي تم الاستجابة لها من جميع الوحدات/القطاعات.</a:t>
            </a: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A11B9BB7-5125-4BE8-6ED5-70A912A96BBA}"/>
              </a:ext>
            </a:extLst>
          </p:cNvPr>
          <p:cNvSpPr>
            <a:spLocks/>
          </p:cNvSpPr>
          <p:nvPr/>
        </p:nvSpPr>
        <p:spPr>
          <a:xfrm>
            <a:off x="3602461" y="1926474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23CFA3D3-2F88-022B-E604-A8B5AB5AC3DC}"/>
              </a:ext>
            </a:extLst>
          </p:cNvPr>
          <p:cNvSpPr>
            <a:spLocks/>
          </p:cNvSpPr>
          <p:nvPr/>
        </p:nvSpPr>
        <p:spPr>
          <a:xfrm>
            <a:off x="2554922" y="1926474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7B7CB986-F259-E376-653D-37F1598385A1}"/>
              </a:ext>
            </a:extLst>
          </p:cNvPr>
          <p:cNvSpPr>
            <a:spLocks/>
          </p:cNvSpPr>
          <p:nvPr/>
        </p:nvSpPr>
        <p:spPr>
          <a:xfrm>
            <a:off x="1495275" y="1926474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49869538-89FC-A4D8-2867-5DEB50F5FFD6}"/>
              </a:ext>
            </a:extLst>
          </p:cNvPr>
          <p:cNvSpPr>
            <a:spLocks/>
          </p:cNvSpPr>
          <p:nvPr/>
        </p:nvSpPr>
        <p:spPr>
          <a:xfrm>
            <a:off x="447736" y="1901570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4" name="Table 58">
            <a:extLst>
              <a:ext uri="{FF2B5EF4-FFF2-40B4-BE49-F238E27FC236}">
                <a16:creationId xmlns:a16="http://schemas.microsoft.com/office/drawing/2014/main" id="{17AB0B2D-3B69-4EE1-8C37-95D313DBD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847579"/>
              </p:ext>
            </p:extLst>
          </p:nvPr>
        </p:nvGraphicFramePr>
        <p:xfrm>
          <a:off x="334587" y="2714329"/>
          <a:ext cx="11418877" cy="70420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6692802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حسام الصالح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0%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0%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3%</a:t>
                      </a:r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4%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11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  <p:sp>
        <p:nvSpPr>
          <p:cNvPr id="45" name="Rectangle 59">
            <a:extLst>
              <a:ext uri="{FF2B5EF4-FFF2-40B4-BE49-F238E27FC236}">
                <a16:creationId xmlns:a16="http://schemas.microsoft.com/office/drawing/2014/main" id="{380E3628-1AF2-4604-9029-066657381178}"/>
              </a:ext>
            </a:extLst>
          </p:cNvPr>
          <p:cNvSpPr/>
          <p:nvPr/>
        </p:nvSpPr>
        <p:spPr>
          <a:xfrm>
            <a:off x="8062465" y="2400127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8613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F7304E20-1B22-DB4E-9C17-DC3C868C1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6C6C6D7F-982A-A646-A0AF-44C2D04BE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679360-3C93-4008-A2A4-A71DEB2F9A52}"/>
              </a:ext>
            </a:extLst>
          </p:cNvPr>
          <p:cNvSpPr txBox="1">
            <a:spLocks/>
          </p:cNvSpPr>
          <p:nvPr/>
        </p:nvSpPr>
        <p:spPr>
          <a:xfrm>
            <a:off x="10348744" y="171965"/>
            <a:ext cx="1625600" cy="665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CC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marL="0" marR="0" lvl="0" indent="0" algn="r" defTabSz="911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هدف الإدارة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931ED3-7D77-4591-904E-7A846826546D}"/>
              </a:ext>
            </a:extLst>
          </p:cNvPr>
          <p:cNvSpPr txBox="1">
            <a:spLocks/>
          </p:cNvSpPr>
          <p:nvPr/>
        </p:nvSpPr>
        <p:spPr>
          <a:xfrm>
            <a:off x="2120630" y="171965"/>
            <a:ext cx="8267073" cy="66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1455">
              <a:spcBef>
                <a:spcPts val="0"/>
              </a:spcBef>
              <a:buNone/>
              <a:defRPr b="1">
                <a:solidFill>
                  <a:srgbClr val="009B4D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defRPr>
            </a:lvl1pPr>
          </a:lstStyle>
          <a:p>
            <a:pPr lvl="0">
              <a:defRPr/>
            </a:pPr>
            <a:r>
              <a:rPr lang="ar-SA" dirty="0"/>
              <a:t>استدامة الأصول وسلامتها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7AAC83BE-E930-4AD8-8005-5CBD9114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26338"/>
              </p:ext>
            </p:extLst>
          </p:nvPr>
        </p:nvGraphicFramePr>
        <p:xfrm>
          <a:off x="632553" y="1925324"/>
          <a:ext cx="10972800" cy="87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2761481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603234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5249084"/>
                    </a:ext>
                  </a:extLst>
                </a:gridCol>
              </a:tblGrid>
              <a:tr h="3015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وصف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مالك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cs typeface="Frutiger LT Arabic 45 Light"/>
                        </a:defRPr>
                      </a:lvl9pPr>
                    </a:lstStyle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راعي</a:t>
                      </a:r>
                      <a:r>
                        <a:rPr lang="ar-SA" sz="1200" b="1" kern="1200" baseline="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Tahoma" pitchFamily="34" charset="0"/>
                          <a:cs typeface="Frutiger LT Arabic 55 Roman" panose="01000000000000000000" pitchFamily="2" charset="-78"/>
                        </a:rPr>
                        <a:t> الهدف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9949"/>
                  </a:ext>
                </a:extLst>
              </a:tr>
              <a:tr h="57760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يهدف الى تحسين استخدام أصول للهيئة للمحافظة عليها من خلال إعادة تأهيل مباني الهيئة وخلق بيئة عمل امنة ورفع جاهزية السلامة للمركبات الاسعافية</a:t>
                      </a:r>
                      <a:endParaRPr lang="en-US" sz="11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ماجد محمد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نواف مياح العنزي</a:t>
                      </a:r>
                      <a:endParaRPr lang="en-US" sz="1200" dirty="0"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48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BE8B122-4233-4C3C-A395-6B6FF9983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92252"/>
              </p:ext>
            </p:extLst>
          </p:nvPr>
        </p:nvGraphicFramePr>
        <p:xfrm>
          <a:off x="632555" y="3117711"/>
          <a:ext cx="10972798" cy="1329744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69686">
                  <a:extLst>
                    <a:ext uri="{9D8B030D-6E8A-4147-A177-3AD203B41FA5}">
                      <a16:colId xmlns:a16="http://schemas.microsoft.com/office/drawing/2014/main" val="3967234813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23352870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033119917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640524979"/>
                    </a:ext>
                  </a:extLst>
                </a:gridCol>
                <a:gridCol w="1825778">
                  <a:extLst>
                    <a:ext uri="{9D8B030D-6E8A-4147-A177-3AD203B41FA5}">
                      <a16:colId xmlns:a16="http://schemas.microsoft.com/office/drawing/2014/main" val="1197201568"/>
                    </a:ext>
                  </a:extLst>
                </a:gridCol>
              </a:tblGrid>
              <a:tr h="299189">
                <a:tc gridSpan="5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2025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المستهدفات 2022</a:t>
                      </a:r>
                      <a:r>
                        <a:rPr lang="ar-SA" sz="16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 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1"/>
                      <a:endParaRPr lang="ar-SA" sz="1200" dirty="0">
                        <a:solidFill>
                          <a:schemeClr val="bg1"/>
                        </a:solidFill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88596" marR="88596" marT="44298" marB="44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78715"/>
                  </a:ext>
                </a:extLst>
              </a:tr>
              <a:tr h="301008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أسم مؤشر الإدارة السنوي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الأول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الثاني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الثالث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الربع الرابع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642364"/>
                  </a:ext>
                </a:extLst>
              </a:tr>
              <a:tr h="289534">
                <a:tc>
                  <a:txBody>
                    <a:bodyPr/>
                    <a:lstStyle/>
                    <a:p>
                      <a:pPr algn="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نسبة رفع امتثال أصول الهيئة لإجراءات السلامة  (الدليل / المعايير والشروط واداة القياس  )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10%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20%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30%</a:t>
                      </a: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ar-SA" sz="1200" b="1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  <a:p>
                      <a:pPr algn="ctr" rtl="1"/>
                      <a:r>
                        <a:rPr lang="ar-SA" sz="12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35%</a:t>
                      </a:r>
                    </a:p>
                    <a:p>
                      <a:pPr algn="ctr" rtl="1"/>
                      <a:endParaRPr lang="ar-SA" sz="12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118128" marR="118128" marT="59064" marB="590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4830"/>
                  </a:ext>
                </a:extLst>
              </a:tr>
            </a:tbl>
          </a:graphicData>
        </a:graphic>
      </p:graphicFrame>
      <p:graphicFrame>
        <p:nvGraphicFramePr>
          <p:cNvPr id="9" name="جدول 14">
            <a:extLst>
              <a:ext uri="{FF2B5EF4-FFF2-40B4-BE49-F238E27FC236}">
                <a16:creationId xmlns:a16="http://schemas.microsoft.com/office/drawing/2014/main" id="{AE872C97-C7F0-4128-8919-2AB16DDF03B6}"/>
              </a:ext>
            </a:extLst>
          </p:cNvPr>
          <p:cNvGraphicFramePr>
            <a:graphicFrameLocks noGrp="1"/>
          </p:cNvGraphicFramePr>
          <p:nvPr/>
        </p:nvGraphicFramePr>
        <p:xfrm>
          <a:off x="632553" y="4865840"/>
          <a:ext cx="10972800" cy="9481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467499">
                  <a:extLst>
                    <a:ext uri="{9D8B030D-6E8A-4147-A177-3AD203B41FA5}">
                      <a16:colId xmlns:a16="http://schemas.microsoft.com/office/drawing/2014/main" val="3436178498"/>
                    </a:ext>
                  </a:extLst>
                </a:gridCol>
                <a:gridCol w="4380412">
                  <a:extLst>
                    <a:ext uri="{9D8B030D-6E8A-4147-A177-3AD203B41FA5}">
                      <a16:colId xmlns:a16="http://schemas.microsoft.com/office/drawing/2014/main" val="3707033896"/>
                    </a:ext>
                  </a:extLst>
                </a:gridCol>
                <a:gridCol w="2124889">
                  <a:extLst>
                    <a:ext uri="{9D8B030D-6E8A-4147-A177-3AD203B41FA5}">
                      <a16:colId xmlns:a16="http://schemas.microsoft.com/office/drawing/2014/main" val="972438896"/>
                    </a:ext>
                  </a:extLst>
                </a:gridCol>
              </a:tblGrid>
              <a:tr h="338511">
                <a:tc gridSpan="3"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المشاريع</a:t>
                      </a:r>
                      <a:endParaRPr lang="ar-SA" sz="1200" b="1" dirty="0">
                        <a:solidFill>
                          <a:schemeClr val="bg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51139"/>
                  </a:ext>
                </a:extLst>
              </a:tr>
              <a:tr h="293974"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اسم المشروع 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إستراتيجي/تشغيلي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solidFill>
                            <a:schemeClr val="tx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قائم/جديد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62688"/>
                  </a:ext>
                </a:extLst>
              </a:tr>
              <a:tr h="293974"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1" eaLnBrk="1" latinLnBrk="0" hangingPunct="1"/>
                      <a:r>
                        <a:rPr lang="ar-SA" sz="1200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لا يوجد</a:t>
                      </a:r>
                      <a:endParaRPr lang="en-US" sz="1200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49814"/>
                  </a:ext>
                </a:extLst>
              </a:tr>
            </a:tbl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1C54371A-9DC4-4EE8-8DDA-C023490C8924}"/>
              </a:ext>
            </a:extLst>
          </p:cNvPr>
          <p:cNvSpPr/>
          <p:nvPr/>
        </p:nvSpPr>
        <p:spPr>
          <a:xfrm>
            <a:off x="632553" y="1481070"/>
            <a:ext cx="10972800" cy="322028"/>
          </a:xfrm>
          <a:prstGeom prst="rect">
            <a:avLst/>
          </a:prstGeom>
          <a:solidFill>
            <a:srgbClr val="009B4D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32" rtl="1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itchFamily="34" charset="0"/>
                <a:cs typeface="Frutiger LT Arabic 55 Roman" panose="01000000000000000000" pitchFamily="2" charset="-78"/>
              </a:rPr>
              <a:t>المعلومات الرئيسية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Arabic 55 Roman" panose="01000000000000000000" pitchFamily="2" charset="-78"/>
              <a:ea typeface="Tahoma" pitchFamily="34" charset="0"/>
              <a:cs typeface="Frutiger LT Arabic 55 Roman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03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761A-B969-9195-91A0-468F4BA1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صورة 23">
            <a:extLst>
              <a:ext uri="{FF2B5EF4-FFF2-40B4-BE49-F238E27FC236}">
                <a16:creationId xmlns:a16="http://schemas.microsoft.com/office/drawing/2014/main" id="{6125AA0D-EF75-7604-23C2-794290FB38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6" t="11690"/>
          <a:stretch/>
        </p:blipFill>
        <p:spPr>
          <a:xfrm flipV="1">
            <a:off x="254000" y="6450458"/>
            <a:ext cx="11684000" cy="291578"/>
          </a:xfrm>
          <a:prstGeom prst="rect">
            <a:avLst/>
          </a:prstGeom>
        </p:spPr>
      </p:pic>
      <p:pic>
        <p:nvPicPr>
          <p:cNvPr id="26" name="صورة 25" descr="صورة تحتوي على الرسومات, تصميم الجرافيك, قصاصة فنية, شعار&#10;&#10;تم إنشاء الوصف تلقائياً">
            <a:extLst>
              <a:ext uri="{FF2B5EF4-FFF2-40B4-BE49-F238E27FC236}">
                <a16:creationId xmlns:a16="http://schemas.microsoft.com/office/drawing/2014/main" id="{CFD81163-DC10-C16B-C816-08DEA3DAD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3" y="109344"/>
            <a:ext cx="1720327" cy="525656"/>
          </a:xfrm>
          <a:prstGeom prst="rect">
            <a:avLst/>
          </a:prstGeom>
        </p:spPr>
      </p:pic>
      <p:sp>
        <p:nvSpPr>
          <p:cNvPr id="11" name="Rectangle: Rounded Corners 38">
            <a:extLst>
              <a:ext uri="{FF2B5EF4-FFF2-40B4-BE49-F238E27FC236}">
                <a16:creationId xmlns:a16="http://schemas.microsoft.com/office/drawing/2014/main" id="{5FE6C444-1F52-B05F-A556-2027417E3A72}"/>
              </a:ext>
            </a:extLst>
          </p:cNvPr>
          <p:cNvSpPr>
            <a:spLocks/>
          </p:cNvSpPr>
          <p:nvPr/>
        </p:nvSpPr>
        <p:spPr>
          <a:xfrm>
            <a:off x="4691404" y="1280503"/>
            <a:ext cx="5995933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365760" rtlCol="0" anchor="ctr">
            <a:noAutofit/>
          </a:bodyPr>
          <a:lstStyle/>
          <a:p>
            <a:pPr lvl="0" algn="r" defTabSz="1225973" rtl="1">
              <a:lnSpc>
                <a:spcPct val="110000"/>
              </a:lnSpc>
              <a:defRPr/>
            </a:pPr>
            <a:r>
              <a:rPr lang="ar-SA" sz="1400" b="1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 رفع امتثال مرافق الهيئة لإجراءات السلامة</a:t>
            </a:r>
          </a:p>
        </p:txBody>
      </p:sp>
      <p:sp>
        <p:nvSpPr>
          <p:cNvPr id="12" name="Rectangle: Rounded Corners 38">
            <a:extLst>
              <a:ext uri="{FF2B5EF4-FFF2-40B4-BE49-F238E27FC236}">
                <a16:creationId xmlns:a16="http://schemas.microsoft.com/office/drawing/2014/main" id="{4B359FE8-8FEE-8DF8-A104-12DE1A3154FB}"/>
              </a:ext>
            </a:extLst>
          </p:cNvPr>
          <p:cNvSpPr>
            <a:spLocks/>
          </p:cNvSpPr>
          <p:nvPr/>
        </p:nvSpPr>
        <p:spPr>
          <a:xfrm>
            <a:off x="6038400" y="658661"/>
            <a:ext cx="462350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استدامة الأصول وسلامتها</a:t>
            </a:r>
          </a:p>
        </p:txBody>
      </p:sp>
      <p:sp>
        <p:nvSpPr>
          <p:cNvPr id="13" name="Rectangle: Rounded Corners 38">
            <a:extLst>
              <a:ext uri="{FF2B5EF4-FFF2-40B4-BE49-F238E27FC236}">
                <a16:creationId xmlns:a16="http://schemas.microsoft.com/office/drawing/2014/main" id="{E236059F-1A7B-DD0A-D631-6E0F7E6ECDC3}"/>
              </a:ext>
            </a:extLst>
          </p:cNvPr>
          <p:cNvSpPr>
            <a:spLocks/>
          </p:cNvSpPr>
          <p:nvPr/>
        </p:nvSpPr>
        <p:spPr>
          <a:xfrm>
            <a:off x="10803794" y="1278417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1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اسم مؤشر الاداء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1" name="Rectangle: Rounded Corners 38">
            <a:extLst>
              <a:ext uri="{FF2B5EF4-FFF2-40B4-BE49-F238E27FC236}">
                <a16:creationId xmlns:a16="http://schemas.microsoft.com/office/drawing/2014/main" id="{DCFC694F-8CB3-17B7-A14C-481849AFA481}"/>
              </a:ext>
            </a:extLst>
          </p:cNvPr>
          <p:cNvSpPr>
            <a:spLocks/>
          </p:cNvSpPr>
          <p:nvPr/>
        </p:nvSpPr>
        <p:spPr>
          <a:xfrm>
            <a:off x="10772264" y="660945"/>
            <a:ext cx="9720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الهدف المرتبط/الادارة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3F67A76-C6CE-48E1-B333-3FC023D96C6F}"/>
              </a:ext>
            </a:extLst>
          </p:cNvPr>
          <p:cNvGrpSpPr/>
          <p:nvPr/>
        </p:nvGrpSpPr>
        <p:grpSpPr>
          <a:xfrm>
            <a:off x="3490775" y="6591228"/>
            <a:ext cx="4724977" cy="418111"/>
            <a:chOff x="3490775" y="6602312"/>
            <a:chExt cx="4724977" cy="418111"/>
          </a:xfrm>
        </p:grpSpPr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6ED9D09A-F733-379D-7FE5-822789DA5DE0}"/>
                </a:ext>
              </a:extLst>
            </p:cNvPr>
            <p:cNvSpPr txBox="1"/>
            <p:nvPr/>
          </p:nvSpPr>
          <p:spPr>
            <a:xfrm>
              <a:off x="7254389" y="6616258"/>
              <a:ext cx="961363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متقدم عن المستهدف الفرق ≥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1" name="TextBox 39">
              <a:extLst>
                <a:ext uri="{FF2B5EF4-FFF2-40B4-BE49-F238E27FC236}">
                  <a16:creationId xmlns:a16="http://schemas.microsoft.com/office/drawing/2014/main" id="{5C437C6F-B048-6EE1-6511-86957974B264}"/>
                </a:ext>
              </a:extLst>
            </p:cNvPr>
            <p:cNvSpPr txBox="1"/>
            <p:nvPr/>
          </p:nvSpPr>
          <p:spPr>
            <a:xfrm>
              <a:off x="6359656" y="661948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مطابق للمستهدف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62BC6002-0DA3-DC51-1C35-069643839788}"/>
                </a:ext>
              </a:extLst>
            </p:cNvPr>
            <p:cNvSpPr txBox="1"/>
            <p:nvPr/>
          </p:nvSpPr>
          <p:spPr>
            <a:xfrm>
              <a:off x="4475310" y="6628615"/>
              <a:ext cx="96192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(&lt;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3" name="TextBox 43">
              <a:extLst>
                <a:ext uri="{FF2B5EF4-FFF2-40B4-BE49-F238E27FC236}">
                  <a16:creationId xmlns:a16="http://schemas.microsoft.com/office/drawing/2014/main" id="{15AC3960-794A-498A-1FE5-AF26C9EE6089}"/>
                </a:ext>
              </a:extLst>
            </p:cNvPr>
            <p:cNvSpPr txBox="1"/>
            <p:nvPr/>
          </p:nvSpPr>
          <p:spPr>
            <a:xfrm>
              <a:off x="5475263" y="6602312"/>
              <a:ext cx="84248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متأخر عن المستهدف الفرق (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2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 - </a:t>
              </a:r>
              <a:r>
                <a:rPr kumimoji="0" lang="en-US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15</a:t>
              </a: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%) 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4" name="سهم: لأعلى 47">
              <a:extLst>
                <a:ext uri="{FF2B5EF4-FFF2-40B4-BE49-F238E27FC236}">
                  <a16:creationId xmlns:a16="http://schemas.microsoft.com/office/drawing/2014/main" id="{65177E40-B874-BA24-E0C7-B09E7FD50123}"/>
                </a:ext>
              </a:extLst>
            </p:cNvPr>
            <p:cNvSpPr/>
            <p:nvPr/>
          </p:nvSpPr>
          <p:spPr>
            <a:xfrm>
              <a:off x="8140472" y="6652643"/>
              <a:ext cx="62315" cy="165436"/>
            </a:xfrm>
            <a:prstGeom prst="upArrow">
              <a:avLst/>
            </a:prstGeom>
            <a:solidFill>
              <a:srgbClr val="009B4D"/>
            </a:solidFill>
            <a:ln>
              <a:solidFill>
                <a:srgbClr val="009B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سهم: لليسار واليمين 48">
              <a:extLst>
                <a:ext uri="{FF2B5EF4-FFF2-40B4-BE49-F238E27FC236}">
                  <a16:creationId xmlns:a16="http://schemas.microsoft.com/office/drawing/2014/main" id="{3E7D4BC4-5C54-A83F-7968-CDAD8771781D}"/>
                </a:ext>
              </a:extLst>
            </p:cNvPr>
            <p:cNvSpPr/>
            <p:nvPr/>
          </p:nvSpPr>
          <p:spPr>
            <a:xfrm>
              <a:off x="7132149" y="6700177"/>
              <a:ext cx="189961" cy="66937"/>
            </a:xfrm>
            <a:prstGeom prst="left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6" name="سهم: لأسفل 49">
              <a:extLst>
                <a:ext uri="{FF2B5EF4-FFF2-40B4-BE49-F238E27FC236}">
                  <a16:creationId xmlns:a16="http://schemas.microsoft.com/office/drawing/2014/main" id="{A09FD75D-5FCF-399E-BB71-45FD4068CE2E}"/>
                </a:ext>
              </a:extLst>
            </p:cNvPr>
            <p:cNvSpPr/>
            <p:nvPr/>
          </p:nvSpPr>
          <p:spPr>
            <a:xfrm>
              <a:off x="6257879" y="6652643"/>
              <a:ext cx="62315" cy="165436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" name="سهم: لأسفل 50">
              <a:extLst>
                <a:ext uri="{FF2B5EF4-FFF2-40B4-BE49-F238E27FC236}">
                  <a16:creationId xmlns:a16="http://schemas.microsoft.com/office/drawing/2014/main" id="{2C7F8BAB-BBE2-0BE1-0F58-161F19DD2DAD}"/>
                </a:ext>
              </a:extLst>
            </p:cNvPr>
            <p:cNvSpPr/>
            <p:nvPr/>
          </p:nvSpPr>
          <p:spPr>
            <a:xfrm>
              <a:off x="5336886" y="6652643"/>
              <a:ext cx="62315" cy="16543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TextBox 41">
              <a:extLst>
                <a:ext uri="{FF2B5EF4-FFF2-40B4-BE49-F238E27FC236}">
                  <a16:creationId xmlns:a16="http://schemas.microsoft.com/office/drawing/2014/main" id="{6EBCECB0-ADC4-7D0C-6633-73068549A9D5}"/>
                </a:ext>
              </a:extLst>
            </p:cNvPr>
            <p:cNvSpPr txBox="1"/>
            <p:nvPr/>
          </p:nvSpPr>
          <p:spPr>
            <a:xfrm>
              <a:off x="3490775" y="6614870"/>
              <a:ext cx="827623" cy="40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86994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r-SA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utiger LT Arabic 55 Roman" panose="01000000000000000000" pitchFamily="2" charset="-78"/>
                  <a:ea typeface="Tahoma" panose="020B0604030504040204" pitchFamily="34" charset="0"/>
                  <a:cs typeface="Frutiger LT Arabic 55 Roman" panose="01000000000000000000" pitchFamily="2" charset="-78"/>
                </a:rPr>
                <a:t>لا يوجد معلومات أو لم يبدأ القياس</a:t>
              </a:r>
              <a:endPara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Tahoma" panose="020B0604030504040204" pitchFamily="34" charset="0"/>
                <a:cs typeface="Frutiger LT Arabic 55 Roman" panose="01000000000000000000" pitchFamily="2" charset="-78"/>
              </a:endParaRPr>
            </a:p>
          </p:txBody>
        </p:sp>
        <p:sp>
          <p:nvSpPr>
            <p:cNvPr id="39" name="مخطط انسيابي: رابط 52">
              <a:extLst>
                <a:ext uri="{FF2B5EF4-FFF2-40B4-BE49-F238E27FC236}">
                  <a16:creationId xmlns:a16="http://schemas.microsoft.com/office/drawing/2014/main" id="{87E8BAA1-FE88-BFA4-22EE-4F5DF48C1137}"/>
                </a:ext>
              </a:extLst>
            </p:cNvPr>
            <p:cNvSpPr/>
            <p:nvPr/>
          </p:nvSpPr>
          <p:spPr>
            <a:xfrm>
              <a:off x="4272065" y="6701893"/>
              <a:ext cx="62315" cy="66937"/>
            </a:xfrm>
            <a:prstGeom prst="flowChartConnector">
              <a:avLst/>
            </a:prstGeom>
            <a:solidFill>
              <a:srgbClr val="8A8A8A"/>
            </a:solidFill>
            <a:ln>
              <a:solidFill>
                <a:srgbClr val="8A8A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r-SA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DB0F65B0-A364-0137-CE24-14F739C353A8}"/>
              </a:ext>
            </a:extLst>
          </p:cNvPr>
          <p:cNvSpPr txBox="1"/>
          <p:nvPr/>
        </p:nvSpPr>
        <p:spPr>
          <a:xfrm>
            <a:off x="9838441" y="218368"/>
            <a:ext cx="19058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dirty="0">
                <a:latin typeface="Frutiger LT Arabic 55 Roman" pitchFamily="2" charset="-78"/>
                <a:cs typeface="Frutiger LT Arabic 55 Roman" pitchFamily="2" charset="-78"/>
              </a:rPr>
              <a:t>بطاقة مؤشر أداء </a:t>
            </a:r>
          </a:p>
        </p:txBody>
      </p:sp>
      <p:sp>
        <p:nvSpPr>
          <p:cNvPr id="41" name="Rectangle: Rounded Corners 38">
            <a:extLst>
              <a:ext uri="{FF2B5EF4-FFF2-40B4-BE49-F238E27FC236}">
                <a16:creationId xmlns:a16="http://schemas.microsoft.com/office/drawing/2014/main" id="{B1077C82-B55F-6763-8923-394344699F33}"/>
              </a:ext>
            </a:extLst>
          </p:cNvPr>
          <p:cNvSpPr>
            <a:spLocks/>
          </p:cNvSpPr>
          <p:nvPr/>
        </p:nvSpPr>
        <p:spPr>
          <a:xfrm>
            <a:off x="470395" y="655039"/>
            <a:ext cx="4162293" cy="5400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 defTabSz="2452559" rtl="1">
              <a:defRPr/>
            </a:pPr>
            <a:r>
              <a:rPr lang="ar-SA" sz="1400" dirty="0">
                <a:solidFill>
                  <a:srgbClr val="000000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إستراتيجية الهيئة 2025</a:t>
            </a:r>
          </a:p>
        </p:txBody>
      </p:sp>
      <p:sp>
        <p:nvSpPr>
          <p:cNvPr id="42" name="Rectangle: Rounded Corners 38">
            <a:extLst>
              <a:ext uri="{FF2B5EF4-FFF2-40B4-BE49-F238E27FC236}">
                <a16:creationId xmlns:a16="http://schemas.microsoft.com/office/drawing/2014/main" id="{730ED5AA-898C-BD05-03CF-9034DD50D458}"/>
              </a:ext>
            </a:extLst>
          </p:cNvPr>
          <p:cNvSpPr>
            <a:spLocks/>
          </p:cNvSpPr>
          <p:nvPr/>
        </p:nvSpPr>
        <p:spPr>
          <a:xfrm>
            <a:off x="4691404" y="657323"/>
            <a:ext cx="1303613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اسم الاستراتيجية/ الادارة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28" name="Rectangle: Rounded Corners 38">
            <a:extLst>
              <a:ext uri="{FF2B5EF4-FFF2-40B4-BE49-F238E27FC236}">
                <a16:creationId xmlns:a16="http://schemas.microsoft.com/office/drawing/2014/main" id="{8967B162-CE2C-5A79-261A-A20D2F120E7F}"/>
              </a:ext>
            </a:extLst>
          </p:cNvPr>
          <p:cNvSpPr>
            <a:spLocks/>
          </p:cNvSpPr>
          <p:nvPr/>
        </p:nvSpPr>
        <p:spPr>
          <a:xfrm>
            <a:off x="4691404" y="1886817"/>
            <a:ext cx="6002027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r" defTabSz="1225973" rtl="1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مؤشر لمتابعة وقياس أعمال رفع متطلبات السلامة في مرافق الهيئة لتحقيق بيئة آمنه .</a:t>
            </a:r>
          </a:p>
        </p:txBody>
      </p:sp>
      <p:sp>
        <p:nvSpPr>
          <p:cNvPr id="29" name="Rectangle: Rounded Corners 38">
            <a:extLst>
              <a:ext uri="{FF2B5EF4-FFF2-40B4-BE49-F238E27FC236}">
                <a16:creationId xmlns:a16="http://schemas.microsoft.com/office/drawing/2014/main" id="{FCBA64D2-ABA6-FC16-8DA4-5AC7185E1BA6}"/>
              </a:ext>
            </a:extLst>
          </p:cNvPr>
          <p:cNvSpPr>
            <a:spLocks/>
          </p:cNvSpPr>
          <p:nvPr/>
        </p:nvSpPr>
        <p:spPr>
          <a:xfrm>
            <a:off x="10803794" y="1886817"/>
            <a:ext cx="914400" cy="540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وصف المؤشر (النطاق)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6" name="Rectangle: Rounded Corners 38">
            <a:extLst>
              <a:ext uri="{FF2B5EF4-FFF2-40B4-BE49-F238E27FC236}">
                <a16:creationId xmlns:a16="http://schemas.microsoft.com/office/drawing/2014/main" id="{72B0C173-9EE5-8890-1697-44E70CBBB470}"/>
              </a:ext>
            </a:extLst>
          </p:cNvPr>
          <p:cNvSpPr>
            <a:spLocks/>
          </p:cNvSpPr>
          <p:nvPr/>
        </p:nvSpPr>
        <p:spPr>
          <a:xfrm>
            <a:off x="3718288" y="1278417"/>
            <a:ext cx="900000" cy="6120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معادلة المؤشر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67" name="Rectangle: Rounded Corners 38">
            <a:extLst>
              <a:ext uri="{FF2B5EF4-FFF2-40B4-BE49-F238E27FC236}">
                <a16:creationId xmlns:a16="http://schemas.microsoft.com/office/drawing/2014/main" id="{E91D6191-4557-ED7D-52DB-94389C66248D}"/>
              </a:ext>
            </a:extLst>
          </p:cNvPr>
          <p:cNvSpPr>
            <a:spLocks/>
          </p:cNvSpPr>
          <p:nvPr/>
        </p:nvSpPr>
        <p:spPr>
          <a:xfrm>
            <a:off x="470394" y="1269082"/>
            <a:ext cx="3224195" cy="61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r" defTabSz="1609364">
              <a:defRPr/>
            </a:pPr>
            <a:r>
              <a:rPr lang="ar-SA" sz="1000" dirty="0">
                <a:solidFill>
                  <a:prstClr val="black"/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(عدد المرافق المحققة الاشتراطات السلامة / اجمالي عدد المرافق في الهيئة) * 100</a:t>
            </a:r>
            <a:endParaRPr kumimoji="0" lang="ar-S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0" name="Rectangle: Rounded Corners 38">
            <a:extLst>
              <a:ext uri="{FF2B5EF4-FFF2-40B4-BE49-F238E27FC236}">
                <a16:creationId xmlns:a16="http://schemas.microsoft.com/office/drawing/2014/main" id="{1C52A210-C334-A64A-FEBE-C72C3B62E96F}"/>
              </a:ext>
            </a:extLst>
          </p:cNvPr>
          <p:cNvSpPr>
            <a:spLocks/>
          </p:cNvSpPr>
          <p:nvPr/>
        </p:nvSpPr>
        <p:spPr>
          <a:xfrm>
            <a:off x="3625119" y="1950135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وحدة القياس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1" name="Rectangle: Rounded Corners 38">
            <a:extLst>
              <a:ext uri="{FF2B5EF4-FFF2-40B4-BE49-F238E27FC236}">
                <a16:creationId xmlns:a16="http://schemas.microsoft.com/office/drawing/2014/main" id="{E335B6E3-D6A4-E592-DA0C-F2F7CD3FCEFD}"/>
              </a:ext>
            </a:extLst>
          </p:cNvPr>
          <p:cNvSpPr>
            <a:spLocks/>
          </p:cNvSpPr>
          <p:nvPr/>
        </p:nvSpPr>
        <p:spPr>
          <a:xfrm>
            <a:off x="2577580" y="1950135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lvl="0" algn="ctr" defTabSz="1609364">
              <a:defRPr/>
            </a:pPr>
            <a:r>
              <a:rPr lang="ar-SA" sz="1000" dirty="0">
                <a:solidFill>
                  <a:srgbClr val="105E62">
                    <a:lumMod val="50000"/>
                  </a:srgbClr>
                </a:solidFill>
                <a:latin typeface="Frutiger LT Arabic 55 Roman" panose="01000000000000000000" pitchFamily="2" charset="-78"/>
                <a:cs typeface="Frutiger LT Arabic 55 Roman" panose="01000000000000000000" pitchFamily="2" charset="-78"/>
              </a:rPr>
              <a:t>نسبة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2" name="Rectangle: Rounded Corners 38">
            <a:extLst>
              <a:ext uri="{FF2B5EF4-FFF2-40B4-BE49-F238E27FC236}">
                <a16:creationId xmlns:a16="http://schemas.microsoft.com/office/drawing/2014/main" id="{357758E2-EE18-7BC4-E9DA-2490307D3612}"/>
              </a:ext>
            </a:extLst>
          </p:cNvPr>
          <p:cNvSpPr>
            <a:spLocks/>
          </p:cNvSpPr>
          <p:nvPr/>
        </p:nvSpPr>
        <p:spPr>
          <a:xfrm>
            <a:off x="1517933" y="1950135"/>
            <a:ext cx="1008000" cy="457200"/>
          </a:xfrm>
          <a:prstGeom prst="rect">
            <a:avLst/>
          </a:prstGeom>
          <a:solidFill>
            <a:srgbClr val="009B4D"/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قطبية المؤشر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73" name="Rectangle: Rounded Corners 38">
            <a:extLst>
              <a:ext uri="{FF2B5EF4-FFF2-40B4-BE49-F238E27FC236}">
                <a16:creationId xmlns:a16="http://schemas.microsoft.com/office/drawing/2014/main" id="{C77A4307-AF8F-D272-C44B-901D897B86C0}"/>
              </a:ext>
            </a:extLst>
          </p:cNvPr>
          <p:cNvSpPr>
            <a:spLocks/>
          </p:cNvSpPr>
          <p:nvPr/>
        </p:nvSpPr>
        <p:spPr>
          <a:xfrm>
            <a:off x="470394" y="1925231"/>
            <a:ext cx="10080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D9D9D9"/>
            </a:solidFill>
            <a:prstDash val="solid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algn="ctr" defTabSz="1609364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 dirty="0">
                <a:ln>
                  <a:noFill/>
                </a:ln>
                <a:solidFill>
                  <a:srgbClr val="105E62">
                    <a:lumMod val="50000"/>
                  </a:srgb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+mn-ea"/>
                <a:cs typeface="Frutiger LT Arabic 55 Roman" panose="01000000000000000000" pitchFamily="2" charset="-78"/>
              </a:rPr>
              <a:t>إيجابي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5E62">
                  <a:lumMod val="50000"/>
                </a:srgb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955FC6F2-647C-A5FA-C842-1102D9D350D9}"/>
              </a:ext>
            </a:extLst>
          </p:cNvPr>
          <p:cNvSpPr/>
          <p:nvPr/>
        </p:nvSpPr>
        <p:spPr>
          <a:xfrm>
            <a:off x="8015075" y="2431169"/>
            <a:ext cx="37962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Low" defTabSz="243843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4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utiger LT Arabic 55 Roman" panose="01000000000000000000" pitchFamily="2" charset="-78"/>
                <a:ea typeface="Calibri" panose="020F0502020204030204" pitchFamily="34" charset="0"/>
                <a:cs typeface="Frutiger LT Arabic 55 Roman" panose="01000000000000000000" pitchFamily="2" charset="-78"/>
              </a:rPr>
              <a:t>المستهدفات</a:t>
            </a:r>
            <a:endParaRPr kumimoji="0" lang="en-US" sz="1400" b="1" i="0" u="sng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utiger LT Arabic 55 Roman" panose="01000000000000000000" pitchFamily="2" charset="-78"/>
              <a:ea typeface="+mn-ea"/>
              <a:cs typeface="Frutiger LT Arabic 55 Roman" panose="01000000000000000000" pitchFamily="2" charset="-78"/>
            </a:endParaRPr>
          </a:p>
        </p:txBody>
      </p:sp>
      <p:graphicFrame>
        <p:nvGraphicFramePr>
          <p:cNvPr id="43" name="Table 58">
            <a:extLst>
              <a:ext uri="{FF2B5EF4-FFF2-40B4-BE49-F238E27FC236}">
                <a16:creationId xmlns:a16="http://schemas.microsoft.com/office/drawing/2014/main" id="{2A5C978C-8D71-4765-B001-AD90A1F55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551929"/>
              </p:ext>
            </p:extLst>
          </p:nvPr>
        </p:nvGraphicFramePr>
        <p:xfrm>
          <a:off x="386561" y="2690016"/>
          <a:ext cx="11418877" cy="673728"/>
        </p:xfrm>
        <a:graphic>
          <a:graphicData uri="http://schemas.openxmlformats.org/drawingml/2006/table">
            <a:tbl>
              <a:tblPr rtl="1" firstRow="1" bandRow="1"/>
              <a:tblGrid>
                <a:gridCol w="710213">
                  <a:extLst>
                    <a:ext uri="{9D8B030D-6E8A-4147-A177-3AD203B41FA5}">
                      <a16:colId xmlns:a16="http://schemas.microsoft.com/office/drawing/2014/main" val="186459975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56692802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60801983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6278718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870203840"/>
                    </a:ext>
                  </a:extLst>
                </a:gridCol>
                <a:gridCol w="765682">
                  <a:extLst>
                    <a:ext uri="{9D8B030D-6E8A-4147-A177-3AD203B41FA5}">
                      <a16:colId xmlns:a16="http://schemas.microsoft.com/office/drawing/2014/main" val="346504591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560041873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35512815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65433017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3804979536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551244517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208463738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131154671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1605708500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627174054"/>
                    </a:ext>
                  </a:extLst>
                </a:gridCol>
                <a:gridCol w="710213">
                  <a:extLst>
                    <a:ext uri="{9D8B030D-6E8A-4147-A177-3AD203B41FA5}">
                      <a16:colId xmlns:a16="http://schemas.microsoft.com/office/drawing/2014/main" val="97170568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المنطقة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مالك المؤشر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خط الاساس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الاداء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1" fontAlgn="ctr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ar-SA" sz="9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ش1</a:t>
                      </a:r>
                      <a:endParaRPr lang="en-US" sz="900" b="1" i="0" u="none" strike="noStrike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ar-SA" sz="900" b="1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cs typeface="Frutiger LT Arabic 55 Roman" panose="01000000000000000000" pitchFamily="2" charset="-78"/>
                        </a:rPr>
                        <a:t>ش2</a:t>
                      </a:r>
                      <a:endParaRPr lang="en-US" sz="900" b="1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cs typeface="Frutiger LT Arabic 55 Roman" panose="01000000000000000000" pitchFamily="2" charset="-78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ش3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ش4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ش5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ش6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ش7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ش9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ش10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ش11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</a:rPr>
                        <a:t>ش12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67314"/>
                  </a:ext>
                </a:extLst>
              </a:tr>
              <a:tr h="186678"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تبوك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م</a:t>
                      </a: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اجد العنزي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المخطط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15%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25%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rutiger LT Arabic 55 Roman" pitchFamily="2" charset="-78"/>
                          <a:cs typeface="Frutiger LT Arabic 55 Roman" pitchFamily="2" charset="-78"/>
                        </a:rPr>
                        <a:t>30%</a:t>
                      </a:r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Arial"/>
                        </a:rPr>
                        <a:t>35%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rutiger LT Arabic 55 Roman" pitchFamily="2" charset="-78"/>
                          <a:ea typeface="+mn-ea"/>
                          <a:cs typeface="Frutiger LT Arabic 55 Roman" pitchFamily="2" charset="-78"/>
                        </a:rPr>
                        <a:t>35%</a:t>
                      </a: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28786"/>
                  </a:ext>
                </a:extLst>
              </a:tr>
              <a:tr h="186678"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</a:pPr>
                      <a:r>
                        <a:rPr lang="ar-SA" sz="1000" b="0" i="0" u="none" strike="noStrike" cap="none" dirty="0">
                          <a:solidFill>
                            <a:schemeClr val="dk1"/>
                          </a:solidFill>
                          <a:latin typeface="Frutiger LT Arabic 55 Roman" panose="01000000000000000000" pitchFamily="2" charset="-78"/>
                          <a:ea typeface="+mn-ea"/>
                          <a:cs typeface="Frutiger LT Arabic 55 Roman" panose="01000000000000000000" pitchFamily="2" charset="-78"/>
                          <a:sym typeface="OpenSans"/>
                        </a:rPr>
                        <a:t>الفعلي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OpenSans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" latinLnBrk="0" hangingPunct="1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ar-SA" sz="900" b="0" i="0" u="none" strike="noStrike" dirty="0">
                        <a:solidFill>
                          <a:srgbClr val="000000"/>
                        </a:solidFill>
                        <a:effectLst/>
                        <a:latin typeface="Frutiger LT Arabic 55 Roman" pitchFamily="2" charset="-78"/>
                        <a:cs typeface="Frutiger LT Arabic 55 Roman" pitchFamily="2" charset="-7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rutiger LT Arabic 55 Roman" panose="01000000000000000000" pitchFamily="2" charset="-78"/>
                        <a:ea typeface="+mn-ea"/>
                        <a:cs typeface="Frutiger LT Arabic 55 Roman" panose="01000000000000000000" pitchFamily="2" charset="-78"/>
                        <a:sym typeface="Arial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Frutiger LT Arabic 55 Roman" pitchFamily="2" charset="-78"/>
                        <a:ea typeface="+mn-ea"/>
                        <a:cs typeface="Frutiger LT Arabic 55 Roman" pitchFamily="2" charset="-78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05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6414</TotalTime>
  <Words>3449</Words>
  <Application>Microsoft Office PowerPoint</Application>
  <PresentationFormat>Widescreen</PresentationFormat>
  <Paragraphs>1073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Cairo Medium</vt:lpstr>
      <vt:lpstr>Calibri</vt:lpstr>
      <vt:lpstr>Calibri Light</vt:lpstr>
      <vt:lpstr>Frutiger LT Arabic 45 Light</vt:lpstr>
      <vt:lpstr>Frutiger LT Arabic 55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خلود وليد احمد محمد</dc:creator>
  <cp:lastModifiedBy>Abdulrahman Samhan</cp:lastModifiedBy>
  <cp:revision>55</cp:revision>
  <dcterms:created xsi:type="dcterms:W3CDTF">2025-01-12T14:18:05Z</dcterms:created>
  <dcterms:modified xsi:type="dcterms:W3CDTF">2025-08-26T12:47:21Z</dcterms:modified>
</cp:coreProperties>
</file>